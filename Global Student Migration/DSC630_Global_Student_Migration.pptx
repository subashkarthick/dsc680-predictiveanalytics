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1" r:id="rId2"/>
    <p:sldId id="2562" r:id="rId3"/>
    <p:sldId id="2563" r:id="rId4"/>
    <p:sldId id="2564" r:id="rId5"/>
    <p:sldId id="2565" r:id="rId6"/>
    <p:sldId id="2566" r:id="rId7"/>
    <p:sldId id="2567" r:id="rId8"/>
    <p:sldId id="2574" r:id="rId9"/>
    <p:sldId id="2573" r:id="rId10"/>
    <p:sldId id="2576" r:id="rId11"/>
    <p:sldId id="2575" r:id="rId12"/>
    <p:sldId id="2568" r:id="rId13"/>
    <p:sldId id="2569" r:id="rId14"/>
    <p:sldId id="2570" r:id="rId15"/>
    <p:sldId id="2571" r:id="rId16"/>
    <p:sldId id="25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7797" autoAdjust="0"/>
  </p:normalViewPr>
  <p:slideViewPr>
    <p:cSldViewPr snapToGrid="0">
      <p:cViewPr varScale="1">
        <p:scale>
          <a:sx n="67" d="100"/>
          <a:sy n="67" d="100"/>
        </p:scale>
        <p:origin x="1380"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3A93B4-B0E9-44EF-A8C3-40AD577BF7D4}"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B6222B-C134-49FA-82FC-AEAC8D59CD22}" type="slidenum">
              <a:rPr lang="en-US" smtClean="0"/>
              <a:t>‹#›</a:t>
            </a:fld>
            <a:endParaRPr lang="en-US"/>
          </a:p>
        </p:txBody>
      </p:sp>
    </p:spTree>
    <p:extLst>
      <p:ext uri="{BB962C8B-B14F-4D97-AF65-F5344CB8AC3E}">
        <p14:creationId xmlns:p14="http://schemas.microsoft.com/office/powerpoint/2010/main" val="414869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AF2E75A-77B1-4444-BF37-3AAEA3355B0E}" type="slidenum">
              <a:t>1</a:t>
            </a:fld>
            <a:endParaRPr lang="en-US"/>
          </a:p>
        </p:txBody>
      </p:sp>
    </p:spTree>
    <p:extLst>
      <p:ext uri="{BB962C8B-B14F-4D97-AF65-F5344CB8AC3E}">
        <p14:creationId xmlns:p14="http://schemas.microsoft.com/office/powerpoint/2010/main" val="2196718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Data Used
</a:t>
            </a:r>
          </a:p>
        </p:txBody>
      </p:sp>
      <p:sp>
        <p:nvSpPr>
          <p:cNvPr id="4" name="Slide Number Placeholder 3"/>
          <p:cNvSpPr>
            <a:spLocks noGrp="1"/>
          </p:cNvSpPr>
          <p:nvPr>
            <p:ph type="sldNum" sz="quarter" idx="5"/>
          </p:nvPr>
        </p:nvSpPr>
        <p:spPr/>
        <p:txBody>
          <a:bodyPr/>
          <a:lstStyle/>
          <a:p>
            <a:fld id="{2AF2E75A-77B1-4444-BF37-3AAEA3355B0E}" type="slidenum">
              <a:t>2</a:t>
            </a:fld>
            <a:endParaRPr lang="en-US"/>
          </a:p>
        </p:txBody>
      </p:sp>
    </p:spTree>
    <p:extLst>
      <p:ext uri="{BB962C8B-B14F-4D97-AF65-F5344CB8AC3E}">
        <p14:creationId xmlns:p14="http://schemas.microsoft.com/office/powerpoint/2010/main" val="2031360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International student migration has become a cornerstone of global education systems, influencing national economies and workforce development strategies. Countries such as the United States, United Kingdom, Canada, Australia, and emerging destinations like the UAE attract millions of students annually. This movement is driven by factors including academic quality, career opportunities, financial support, and favorable post-study work policies. Understanding these migration patterns is critical for universities, policymakers, and private organizations to make informed decisions on enrollment forecasting, budget planning, and immigration policy development. The project aims to analyze migration trends using predictive analytics, identify key influencing factors, and build models to forecast future student movements. By comparing models trained on data up to 2019 and those trained through 2020, the study evaluates the impact of global disruptions such as the COVID-19 pandemic on forecasting accuracy and stability. The analysis also explores policy implications, including immigration reforms, post-study work rights, and socio-economic effects like brain drain and brain gain.
</a:t>
            </a:r>
          </a:p>
        </p:txBody>
      </p:sp>
      <p:sp>
        <p:nvSpPr>
          <p:cNvPr id="4" name="Slide Number Placeholder 3"/>
          <p:cNvSpPr>
            <a:spLocks noGrp="1"/>
          </p:cNvSpPr>
          <p:nvPr>
            <p:ph type="sldNum" sz="quarter" idx="5"/>
          </p:nvPr>
        </p:nvSpPr>
        <p:spPr/>
        <p:txBody>
          <a:bodyPr/>
          <a:lstStyle/>
          <a:p>
            <a:fld id="{2AF2E75A-77B1-4444-BF37-3AAEA3355B0E}" type="slidenum">
              <a:t>3</a:t>
            </a:fld>
            <a:endParaRPr lang="en-US"/>
          </a:p>
        </p:txBody>
      </p:sp>
    </p:spTree>
    <p:extLst>
      <p:ext uri="{BB962C8B-B14F-4D97-AF65-F5344CB8AC3E}">
        <p14:creationId xmlns:p14="http://schemas.microsoft.com/office/powerpoint/2010/main" val="1461291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comprises over 5,000 student-level observations and 20 variables, capturing details such as origin and destination countries, year of enrollment, academic performance indicators, test scores, scholarship status, and placement outcomes. Key variables include </a:t>
            </a:r>
            <a:r>
              <a:rPr lang="en-US" dirty="0" err="1"/>
              <a:t>origin_country</a:t>
            </a:r>
            <a:r>
              <a:rPr lang="en-US" dirty="0"/>
              <a:t>, </a:t>
            </a:r>
            <a:r>
              <a:rPr lang="en-US" dirty="0" err="1"/>
              <a:t>destination_country</a:t>
            </a:r>
            <a:r>
              <a:rPr lang="en-US" dirty="0"/>
              <a:t>, </a:t>
            </a:r>
            <a:r>
              <a:rPr lang="en-US" dirty="0" err="1"/>
              <a:t>year_of_enrollment</a:t>
            </a:r>
            <a:r>
              <a:rPr lang="en-US" dirty="0"/>
              <a:t>, </a:t>
            </a:r>
            <a:r>
              <a:rPr lang="en-US" dirty="0" err="1"/>
              <a:t>student_count</a:t>
            </a:r>
            <a:r>
              <a:rPr lang="en-US" dirty="0"/>
              <a:t> (aggregated), </a:t>
            </a:r>
            <a:r>
              <a:rPr lang="en-US" dirty="0" err="1"/>
              <a:t>avg_gpa</a:t>
            </a:r>
            <a:r>
              <a:rPr lang="en-US" dirty="0"/>
              <a:t>, </a:t>
            </a:r>
            <a:r>
              <a:rPr lang="en-US" dirty="0" err="1"/>
              <a:t>avg_test_score</a:t>
            </a:r>
            <a:r>
              <a:rPr lang="en-US" dirty="0"/>
              <a:t>, </a:t>
            </a:r>
            <a:r>
              <a:rPr lang="en-US" dirty="0" err="1"/>
              <a:t>scholarship_rate</a:t>
            </a:r>
            <a:r>
              <a:rPr lang="en-US" dirty="0"/>
              <a:t>, and </a:t>
            </a:r>
            <a:r>
              <a:rPr lang="en-US" dirty="0" err="1"/>
              <a:t>placement_rate</a:t>
            </a:r>
            <a:r>
              <a:rPr lang="en-US" dirty="0"/>
              <a:t>. The data spans both pre-pandemic and pandemic periods, enabling robust analysis of migration trends under stable and volatile conditions. This comprehensive dataset supports predictive modeling by providing insights into academic, financial, and country-level factors influencing student migration.
</a:t>
            </a:r>
          </a:p>
        </p:txBody>
      </p:sp>
      <p:sp>
        <p:nvSpPr>
          <p:cNvPr id="4" name="Slide Number Placeholder 3"/>
          <p:cNvSpPr>
            <a:spLocks noGrp="1"/>
          </p:cNvSpPr>
          <p:nvPr>
            <p:ph type="sldNum" sz="quarter" idx="5"/>
          </p:nvPr>
        </p:nvSpPr>
        <p:spPr/>
        <p:txBody>
          <a:bodyPr/>
          <a:lstStyle/>
          <a:p>
            <a:fld id="{2AF2E75A-77B1-4444-BF37-3AAEA3355B0E}" type="slidenum">
              <a:t>4</a:t>
            </a:fld>
            <a:endParaRPr lang="en-US"/>
          </a:p>
        </p:txBody>
      </p:sp>
    </p:spTree>
    <p:extLst>
      <p:ext uri="{BB962C8B-B14F-4D97-AF65-F5344CB8AC3E}">
        <p14:creationId xmlns:p14="http://schemas.microsoft.com/office/powerpoint/2010/main" val="426760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Preparation, Visualizations
</a:t>
            </a:r>
          </a:p>
        </p:txBody>
      </p:sp>
      <p:sp>
        <p:nvSpPr>
          <p:cNvPr id="4" name="Slide Number Placeholder 3"/>
          <p:cNvSpPr>
            <a:spLocks noGrp="1"/>
          </p:cNvSpPr>
          <p:nvPr>
            <p:ph type="sldNum" sz="quarter" idx="5"/>
          </p:nvPr>
        </p:nvSpPr>
        <p:spPr/>
        <p:txBody>
          <a:bodyPr/>
          <a:lstStyle/>
          <a:p>
            <a:fld id="{2AF2E75A-77B1-4444-BF37-3AAEA3355B0E}" type="slidenum">
              <a:t>5</a:t>
            </a:fld>
            <a:endParaRPr lang="en-US"/>
          </a:p>
        </p:txBody>
      </p:sp>
    </p:spTree>
    <p:extLst>
      <p:ext uri="{BB962C8B-B14F-4D97-AF65-F5344CB8AC3E}">
        <p14:creationId xmlns:p14="http://schemas.microsoft.com/office/powerpoint/2010/main" val="877479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preparation involved several steps to ensure quality and suitability for predictive modeling. Duplicate rows were removed to avoid counting students multiple times. Missing values in placement-related fields were replaced with 'Unknown' to maintain completeness. The data was aggregated at the country, destination, and year level to create a structured dataset for forecasting. Categorical variables such as countries were label-encoded, and numerical features were scaled using </a:t>
            </a:r>
            <a:r>
              <a:rPr lang="en-US" dirty="0" err="1"/>
              <a:t>MinMax</a:t>
            </a:r>
            <a:r>
              <a:rPr lang="en-US" dirty="0"/>
              <a:t> normalization. Two forecasting windows were tested: Model Set A trained on data up to 2019 and tested on subsequent years, while Model Set B trained on data up to 2020. This chronological split simulates real-world forecasting scenarios and evaluates model adaptability to global disruptions.
</a:t>
            </a:r>
          </a:p>
        </p:txBody>
      </p:sp>
      <p:sp>
        <p:nvSpPr>
          <p:cNvPr id="4" name="Slide Number Placeholder 3"/>
          <p:cNvSpPr>
            <a:spLocks noGrp="1"/>
          </p:cNvSpPr>
          <p:nvPr>
            <p:ph type="sldNum" sz="quarter" idx="5"/>
          </p:nvPr>
        </p:nvSpPr>
        <p:spPr/>
        <p:txBody>
          <a:bodyPr/>
          <a:lstStyle/>
          <a:p>
            <a:fld id="{2AF2E75A-77B1-4444-BF37-3AAEA3355B0E}" type="slidenum">
              <a:t>6</a:t>
            </a:fld>
            <a:endParaRPr lang="en-US"/>
          </a:p>
        </p:txBody>
      </p:sp>
    </p:spTree>
    <p:extLst>
      <p:ext uri="{BB962C8B-B14F-4D97-AF65-F5344CB8AC3E}">
        <p14:creationId xmlns:p14="http://schemas.microsoft.com/office/powerpoint/2010/main" val="4079629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includes four key visualizations to illustrate migration patterns and related factors. The first visualization shows the top 10 destination countries, with the UAE leading at over 540 students, followed by the UK and Germany. The second visualization depicts scholarship distribution across destinations, revealing that most students in top countries receive scholarships, with UAE, UK, and Germany offering the highest rates. The third visualization examines placement status by field of study, highlighting engineering as the most employable discipline, while medicine and arts face greater challenges. The fourth visualization presents average starting salaries by destination country, showing engineering graduates earning the highest salaries (~$48,000), followed by other technical and non-technical fields with competitive compensation.
</a:t>
            </a:r>
          </a:p>
        </p:txBody>
      </p:sp>
      <p:sp>
        <p:nvSpPr>
          <p:cNvPr id="4" name="Slide Number Placeholder 3"/>
          <p:cNvSpPr>
            <a:spLocks noGrp="1"/>
          </p:cNvSpPr>
          <p:nvPr>
            <p:ph type="sldNum" sz="quarter" idx="5"/>
          </p:nvPr>
        </p:nvSpPr>
        <p:spPr/>
        <p:txBody>
          <a:bodyPr/>
          <a:lstStyle/>
          <a:p>
            <a:fld id="{2AF2E75A-77B1-4444-BF37-3AAEA3355B0E}" type="slidenum">
              <a:t>7</a:t>
            </a:fld>
            <a:endParaRPr lang="en-US"/>
          </a:p>
        </p:txBody>
      </p:sp>
    </p:spTree>
    <p:extLst>
      <p:ext uri="{BB962C8B-B14F-4D97-AF65-F5344CB8AC3E}">
        <p14:creationId xmlns:p14="http://schemas.microsoft.com/office/powerpoint/2010/main" val="403276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Used, Model Results
</a:t>
            </a:r>
          </a:p>
        </p:txBody>
      </p:sp>
      <p:sp>
        <p:nvSpPr>
          <p:cNvPr id="4" name="Slide Number Placeholder 3"/>
          <p:cNvSpPr>
            <a:spLocks noGrp="1"/>
          </p:cNvSpPr>
          <p:nvPr>
            <p:ph type="sldNum" sz="quarter" idx="5"/>
          </p:nvPr>
        </p:nvSpPr>
        <p:spPr/>
        <p:txBody>
          <a:bodyPr/>
          <a:lstStyle/>
          <a:p>
            <a:fld id="{2AF2E75A-77B1-4444-BF37-3AAEA3355B0E}" type="slidenum">
              <a:t>12</a:t>
            </a:fld>
            <a:endParaRPr lang="en-US"/>
          </a:p>
        </p:txBody>
      </p:sp>
    </p:spTree>
    <p:extLst>
      <p:ext uri="{BB962C8B-B14F-4D97-AF65-F5344CB8AC3E}">
        <p14:creationId xmlns:p14="http://schemas.microsoft.com/office/powerpoint/2010/main" val="3010559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predictive modeling techniques were employed: Ridge Regression, Random Forest Regressor, and </a:t>
            </a:r>
            <a:r>
              <a:rPr lang="en-US" dirty="0" err="1"/>
              <a:t>XGBoost</a:t>
            </a:r>
            <a:r>
              <a:rPr lang="en-US" dirty="0"/>
              <a:t> Regressor. Ridge Regression served as a linear baseline, offering interpretability but limited in capturing nonlinear relationships. Random Forest, a tree-based ensemble model, effectively handled complex interactions and categorical encodings, providing robust generalization. </a:t>
            </a:r>
            <a:r>
              <a:rPr lang="en-US" dirty="0" err="1"/>
              <a:t>XGBoost</a:t>
            </a:r>
            <a:r>
              <a:rPr lang="en-US" dirty="0"/>
              <a:t>, a gradient boosting method, delivered strong performance and feature importance insights. Models were evaluated using Mean Absolute Error (MAE), Root Mean Squared Error (RMSE), and Mean Absolute Percentage Error (MAPE). Chronological splitting was applied to mimic real-world forecasting, training on historical data and testing on future periods.
</a:t>
            </a:r>
          </a:p>
        </p:txBody>
      </p:sp>
      <p:sp>
        <p:nvSpPr>
          <p:cNvPr id="4" name="Slide Number Placeholder 3"/>
          <p:cNvSpPr>
            <a:spLocks noGrp="1"/>
          </p:cNvSpPr>
          <p:nvPr>
            <p:ph type="sldNum" sz="quarter" idx="5"/>
          </p:nvPr>
        </p:nvSpPr>
        <p:spPr/>
        <p:txBody>
          <a:bodyPr/>
          <a:lstStyle/>
          <a:p>
            <a:fld id="{2AF2E75A-77B1-4444-BF37-3AAEA3355B0E}" type="slidenum">
              <a:t>13</a:t>
            </a:fld>
            <a:endParaRPr lang="en-US"/>
          </a:p>
        </p:txBody>
      </p:sp>
    </p:spTree>
    <p:extLst>
      <p:ext uri="{BB962C8B-B14F-4D97-AF65-F5344CB8AC3E}">
        <p14:creationId xmlns:p14="http://schemas.microsoft.com/office/powerpoint/2010/main" val="35054765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consistently outperformed other models, achieving the lowest MAE (2.53) and RMSE (3.21) when trained through 2020, with a MAPE around 27%. </a:t>
            </a:r>
            <a:r>
              <a:rPr lang="en-US" dirty="0" err="1"/>
              <a:t>XGBoost</a:t>
            </a:r>
            <a:r>
              <a:rPr lang="en-US" dirty="0"/>
              <a:t> demonstrated similar accuracy and robustness, while Ridge Regression lagged due to its inability to capture nonlinear patterns. Feature importance analysis revealed that scholarship rate and placement rate were the strongest predictors, followed by academic metrics like test scores and GPA. Country-level factors had moderate influence, while year of enrollment played a minor role. Incorporating pandemic-era data improved model adaptability and accuracy, highlighting the need to include policy and economic variables for future forecasting.
</a:t>
            </a:r>
          </a:p>
        </p:txBody>
      </p:sp>
      <p:sp>
        <p:nvSpPr>
          <p:cNvPr id="4" name="Slide Number Placeholder 3"/>
          <p:cNvSpPr>
            <a:spLocks noGrp="1"/>
          </p:cNvSpPr>
          <p:nvPr>
            <p:ph type="sldNum" sz="quarter" idx="5"/>
          </p:nvPr>
        </p:nvSpPr>
        <p:spPr/>
        <p:txBody>
          <a:bodyPr/>
          <a:lstStyle/>
          <a:p>
            <a:fld id="{2AF2E75A-77B1-4444-BF37-3AAEA3355B0E}" type="slidenum">
              <a:t>14</a:t>
            </a:fld>
            <a:endParaRPr lang="en-US"/>
          </a:p>
        </p:txBody>
      </p:sp>
    </p:spTree>
    <p:extLst>
      <p:ext uri="{BB962C8B-B14F-4D97-AF65-F5344CB8AC3E}">
        <p14:creationId xmlns:p14="http://schemas.microsoft.com/office/powerpoint/2010/main" val="2055244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and Recommendations
</a:t>
            </a:r>
          </a:p>
        </p:txBody>
      </p:sp>
      <p:sp>
        <p:nvSpPr>
          <p:cNvPr id="4" name="Slide Number Placeholder 3"/>
          <p:cNvSpPr>
            <a:spLocks noGrp="1"/>
          </p:cNvSpPr>
          <p:nvPr>
            <p:ph type="sldNum" sz="quarter" idx="5"/>
          </p:nvPr>
        </p:nvSpPr>
        <p:spPr/>
        <p:txBody>
          <a:bodyPr/>
          <a:lstStyle/>
          <a:p>
            <a:fld id="{2AF2E75A-77B1-4444-BF37-3AAEA3355B0E}" type="slidenum">
              <a:t>15</a:t>
            </a:fld>
            <a:endParaRPr lang="en-US"/>
          </a:p>
        </p:txBody>
      </p:sp>
    </p:spTree>
    <p:extLst>
      <p:ext uri="{BB962C8B-B14F-4D97-AF65-F5344CB8AC3E}">
        <p14:creationId xmlns:p14="http://schemas.microsoft.com/office/powerpoint/2010/main" val="1208335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Tree-based models, particularly Random Forest and </a:t>
            </a:r>
            <a:r>
              <a:rPr lang="en-US" dirty="0" err="1"/>
              <a:t>XGBoost</a:t>
            </a:r>
            <a:r>
              <a:rPr lang="en-US" dirty="0"/>
              <a:t>, outperform linear models in forecasting student migration, confirming the importance of capturing nonlinear interactions among academic, financial, and country-level factors. Scholarships and placement opportunities emerged as the most influential predictors, while academic metrics also played a significant role. Incorporating pandemic-era data improved model robustness and accuracy, emphasizing the need for adaptable forecasting strategies. Recommendations include enhancing scholarship initiatives, supporting post-study employment pathways, and leveraging predictive analytics for institutional planning. Policymakers should consider visa reforms and bilateral agreements to stabilize student mobility, while universities should focus on high-potential regions and monitor placement outcomes to maintain competitiveness.
</a:t>
            </a:r>
          </a:p>
        </p:txBody>
      </p:sp>
      <p:sp>
        <p:nvSpPr>
          <p:cNvPr id="4" name="Slide Number Placeholder 3"/>
          <p:cNvSpPr>
            <a:spLocks noGrp="1"/>
          </p:cNvSpPr>
          <p:nvPr>
            <p:ph type="sldNum" sz="quarter" idx="5"/>
          </p:nvPr>
        </p:nvSpPr>
        <p:spPr/>
        <p:txBody>
          <a:bodyPr/>
          <a:lstStyle/>
          <a:p>
            <a:fld id="{2AF2E75A-77B1-4444-BF37-3AAEA3355B0E}" type="slidenum">
              <a:t>16</a:t>
            </a:fld>
            <a:endParaRPr lang="en-US"/>
          </a:p>
        </p:txBody>
      </p:sp>
    </p:spTree>
    <p:extLst>
      <p:ext uri="{BB962C8B-B14F-4D97-AF65-F5344CB8AC3E}">
        <p14:creationId xmlns:p14="http://schemas.microsoft.com/office/powerpoint/2010/main" val="2495396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99C2E-CE2B-7C84-CD05-EE39B56069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552CBD-7D31-B496-5F87-F96ED1721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49E25D-7F06-149A-A200-DCC7D3142BE7}"/>
              </a:ext>
            </a:extLst>
          </p:cNvPr>
          <p:cNvSpPr>
            <a:spLocks noGrp="1"/>
          </p:cNvSpPr>
          <p:nvPr>
            <p:ph type="dt" sz="half" idx="10"/>
          </p:nvPr>
        </p:nvSpPr>
        <p:spPr/>
        <p:txBody>
          <a:bodyPr/>
          <a:lstStyle/>
          <a:p>
            <a:fld id="{580ED620-40D2-4B80-A60B-3DA4E43726C6}" type="datetimeFigureOut">
              <a:rPr lang="en-US" smtClean="0"/>
              <a:t>11/23/2025</a:t>
            </a:fld>
            <a:endParaRPr lang="en-US"/>
          </a:p>
        </p:txBody>
      </p:sp>
      <p:sp>
        <p:nvSpPr>
          <p:cNvPr id="5" name="Footer Placeholder 4">
            <a:extLst>
              <a:ext uri="{FF2B5EF4-FFF2-40B4-BE49-F238E27FC236}">
                <a16:creationId xmlns:a16="http://schemas.microsoft.com/office/drawing/2014/main" id="{8A7CE8AB-2BB5-987F-583A-FDB30B0D6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67E684-9EFB-FB09-8C86-A23BB24C36E9}"/>
              </a:ext>
            </a:extLst>
          </p:cNvPr>
          <p:cNvSpPr>
            <a:spLocks noGrp="1"/>
          </p:cNvSpPr>
          <p:nvPr>
            <p:ph type="sldNum" sz="quarter" idx="12"/>
          </p:nvPr>
        </p:nvSpPr>
        <p:spPr/>
        <p:txBody>
          <a:bodyPr/>
          <a:lstStyle/>
          <a:p>
            <a:fld id="{88E21B93-4678-4B40-88CC-3AD9807A564C}" type="slidenum">
              <a:rPr lang="en-US" smtClean="0"/>
              <a:t>‹#›</a:t>
            </a:fld>
            <a:endParaRPr lang="en-US"/>
          </a:p>
        </p:txBody>
      </p:sp>
    </p:spTree>
    <p:extLst>
      <p:ext uri="{BB962C8B-B14F-4D97-AF65-F5344CB8AC3E}">
        <p14:creationId xmlns:p14="http://schemas.microsoft.com/office/powerpoint/2010/main" val="3739034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0CC37-E0B1-CCC7-68E8-EB94618536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E96E5C-B32D-A1A5-F58E-7C87394F5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A66FC4-BB34-B417-C1E0-1FE99CFCCA34}"/>
              </a:ext>
            </a:extLst>
          </p:cNvPr>
          <p:cNvSpPr>
            <a:spLocks noGrp="1"/>
          </p:cNvSpPr>
          <p:nvPr>
            <p:ph type="dt" sz="half" idx="10"/>
          </p:nvPr>
        </p:nvSpPr>
        <p:spPr/>
        <p:txBody>
          <a:bodyPr/>
          <a:lstStyle/>
          <a:p>
            <a:fld id="{580ED620-40D2-4B80-A60B-3DA4E43726C6}" type="datetimeFigureOut">
              <a:rPr lang="en-US" smtClean="0"/>
              <a:t>11/23/2025</a:t>
            </a:fld>
            <a:endParaRPr lang="en-US"/>
          </a:p>
        </p:txBody>
      </p:sp>
      <p:sp>
        <p:nvSpPr>
          <p:cNvPr id="5" name="Footer Placeholder 4">
            <a:extLst>
              <a:ext uri="{FF2B5EF4-FFF2-40B4-BE49-F238E27FC236}">
                <a16:creationId xmlns:a16="http://schemas.microsoft.com/office/drawing/2014/main" id="{386B7428-2CDD-918E-C2DF-287A892254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2BCF47-0164-A2A5-8507-A7D19DC1130F}"/>
              </a:ext>
            </a:extLst>
          </p:cNvPr>
          <p:cNvSpPr>
            <a:spLocks noGrp="1"/>
          </p:cNvSpPr>
          <p:nvPr>
            <p:ph type="sldNum" sz="quarter" idx="12"/>
          </p:nvPr>
        </p:nvSpPr>
        <p:spPr/>
        <p:txBody>
          <a:bodyPr/>
          <a:lstStyle/>
          <a:p>
            <a:fld id="{88E21B93-4678-4B40-88CC-3AD9807A564C}" type="slidenum">
              <a:rPr lang="en-US" smtClean="0"/>
              <a:t>‹#›</a:t>
            </a:fld>
            <a:endParaRPr lang="en-US"/>
          </a:p>
        </p:txBody>
      </p:sp>
    </p:spTree>
    <p:extLst>
      <p:ext uri="{BB962C8B-B14F-4D97-AF65-F5344CB8AC3E}">
        <p14:creationId xmlns:p14="http://schemas.microsoft.com/office/powerpoint/2010/main" val="462589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4DD71-1F97-8E75-4826-4A44D7BAA3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44E146-9002-C503-E753-51BC8C1B53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BE2F0B-C3C6-F10D-2183-74C2A1C7AC96}"/>
              </a:ext>
            </a:extLst>
          </p:cNvPr>
          <p:cNvSpPr>
            <a:spLocks noGrp="1"/>
          </p:cNvSpPr>
          <p:nvPr>
            <p:ph type="dt" sz="half" idx="10"/>
          </p:nvPr>
        </p:nvSpPr>
        <p:spPr/>
        <p:txBody>
          <a:bodyPr/>
          <a:lstStyle/>
          <a:p>
            <a:fld id="{580ED620-40D2-4B80-A60B-3DA4E43726C6}" type="datetimeFigureOut">
              <a:rPr lang="en-US" smtClean="0"/>
              <a:t>11/23/2025</a:t>
            </a:fld>
            <a:endParaRPr lang="en-US"/>
          </a:p>
        </p:txBody>
      </p:sp>
      <p:sp>
        <p:nvSpPr>
          <p:cNvPr id="5" name="Footer Placeholder 4">
            <a:extLst>
              <a:ext uri="{FF2B5EF4-FFF2-40B4-BE49-F238E27FC236}">
                <a16:creationId xmlns:a16="http://schemas.microsoft.com/office/drawing/2014/main" id="{E01CEF14-71D8-45F6-59F4-CC54A3B347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57234-70EE-E5E4-02DD-69105574E480}"/>
              </a:ext>
            </a:extLst>
          </p:cNvPr>
          <p:cNvSpPr>
            <a:spLocks noGrp="1"/>
          </p:cNvSpPr>
          <p:nvPr>
            <p:ph type="sldNum" sz="quarter" idx="12"/>
          </p:nvPr>
        </p:nvSpPr>
        <p:spPr/>
        <p:txBody>
          <a:bodyPr/>
          <a:lstStyle/>
          <a:p>
            <a:fld id="{88E21B93-4678-4B40-88CC-3AD9807A564C}" type="slidenum">
              <a:rPr lang="en-US" smtClean="0"/>
              <a:t>‹#›</a:t>
            </a:fld>
            <a:endParaRPr lang="en-US"/>
          </a:p>
        </p:txBody>
      </p:sp>
    </p:spTree>
    <p:extLst>
      <p:ext uri="{BB962C8B-B14F-4D97-AF65-F5344CB8AC3E}">
        <p14:creationId xmlns:p14="http://schemas.microsoft.com/office/powerpoint/2010/main" val="1431539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512F9-69A9-242D-E465-C1211D4E81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39C8D5-DA91-2904-96EB-DC061E5818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A20C37-D0B6-035B-3231-3FA8B9CD56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234D2F-5730-655D-1D6F-61A77F5D1FA4}"/>
              </a:ext>
            </a:extLst>
          </p:cNvPr>
          <p:cNvSpPr>
            <a:spLocks noGrp="1"/>
          </p:cNvSpPr>
          <p:nvPr>
            <p:ph type="dt" sz="half" idx="10"/>
          </p:nvPr>
        </p:nvSpPr>
        <p:spPr/>
        <p:txBody>
          <a:bodyPr/>
          <a:lstStyle/>
          <a:p>
            <a:fld id="{580ED620-40D2-4B80-A60B-3DA4E43726C6}" type="datetimeFigureOut">
              <a:rPr lang="en-US" smtClean="0"/>
              <a:t>11/23/2025</a:t>
            </a:fld>
            <a:endParaRPr lang="en-US"/>
          </a:p>
        </p:txBody>
      </p:sp>
      <p:sp>
        <p:nvSpPr>
          <p:cNvPr id="6" name="Footer Placeholder 5">
            <a:extLst>
              <a:ext uri="{FF2B5EF4-FFF2-40B4-BE49-F238E27FC236}">
                <a16:creationId xmlns:a16="http://schemas.microsoft.com/office/drawing/2014/main" id="{444DC8E4-11DF-2461-BFC1-E3CC4D3E06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3F82C2-C393-01FA-4ECE-B106DD86A47B}"/>
              </a:ext>
            </a:extLst>
          </p:cNvPr>
          <p:cNvSpPr>
            <a:spLocks noGrp="1"/>
          </p:cNvSpPr>
          <p:nvPr>
            <p:ph type="sldNum" sz="quarter" idx="12"/>
          </p:nvPr>
        </p:nvSpPr>
        <p:spPr/>
        <p:txBody>
          <a:bodyPr/>
          <a:lstStyle/>
          <a:p>
            <a:fld id="{88E21B93-4678-4B40-88CC-3AD9807A564C}" type="slidenum">
              <a:rPr lang="en-US" smtClean="0"/>
              <a:t>‹#›</a:t>
            </a:fld>
            <a:endParaRPr lang="en-US"/>
          </a:p>
        </p:txBody>
      </p:sp>
    </p:spTree>
    <p:extLst>
      <p:ext uri="{BB962C8B-B14F-4D97-AF65-F5344CB8AC3E}">
        <p14:creationId xmlns:p14="http://schemas.microsoft.com/office/powerpoint/2010/main" val="3709038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443EF-22B7-9EBE-0653-252D5D7D1F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E99EAB-1BE3-A687-D056-E61BF55749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CE7BC2-E448-2EF3-BC1B-D560F4F14D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F410F2-9E95-28FC-AA13-25CDABB9F6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81F32E-CD40-77EC-2E5F-D477C0B44E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C6E87B-40DE-7BF5-1AA9-9A58C65D4BD2}"/>
              </a:ext>
            </a:extLst>
          </p:cNvPr>
          <p:cNvSpPr>
            <a:spLocks noGrp="1"/>
          </p:cNvSpPr>
          <p:nvPr>
            <p:ph type="dt" sz="half" idx="10"/>
          </p:nvPr>
        </p:nvSpPr>
        <p:spPr/>
        <p:txBody>
          <a:bodyPr/>
          <a:lstStyle/>
          <a:p>
            <a:fld id="{580ED620-40D2-4B80-A60B-3DA4E43726C6}" type="datetimeFigureOut">
              <a:rPr lang="en-US" smtClean="0"/>
              <a:t>11/23/2025</a:t>
            </a:fld>
            <a:endParaRPr lang="en-US"/>
          </a:p>
        </p:txBody>
      </p:sp>
      <p:sp>
        <p:nvSpPr>
          <p:cNvPr id="8" name="Footer Placeholder 7">
            <a:extLst>
              <a:ext uri="{FF2B5EF4-FFF2-40B4-BE49-F238E27FC236}">
                <a16:creationId xmlns:a16="http://schemas.microsoft.com/office/drawing/2014/main" id="{7ED2D456-28C1-7025-6511-F17BB7FCEC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AED348-F704-4271-77CF-F7F2FDEAABEF}"/>
              </a:ext>
            </a:extLst>
          </p:cNvPr>
          <p:cNvSpPr>
            <a:spLocks noGrp="1"/>
          </p:cNvSpPr>
          <p:nvPr>
            <p:ph type="sldNum" sz="quarter" idx="12"/>
          </p:nvPr>
        </p:nvSpPr>
        <p:spPr/>
        <p:txBody>
          <a:bodyPr/>
          <a:lstStyle/>
          <a:p>
            <a:fld id="{88E21B93-4678-4B40-88CC-3AD9807A564C}" type="slidenum">
              <a:rPr lang="en-US" smtClean="0"/>
              <a:t>‹#›</a:t>
            </a:fld>
            <a:endParaRPr lang="en-US"/>
          </a:p>
        </p:txBody>
      </p:sp>
    </p:spTree>
    <p:extLst>
      <p:ext uri="{BB962C8B-B14F-4D97-AF65-F5344CB8AC3E}">
        <p14:creationId xmlns:p14="http://schemas.microsoft.com/office/powerpoint/2010/main" val="992765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C797F-C9C6-BA50-8DFA-7521F7C987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721BC5-A856-AC74-049E-61EEBD06EF59}"/>
              </a:ext>
            </a:extLst>
          </p:cNvPr>
          <p:cNvSpPr>
            <a:spLocks noGrp="1"/>
          </p:cNvSpPr>
          <p:nvPr>
            <p:ph type="dt" sz="half" idx="10"/>
          </p:nvPr>
        </p:nvSpPr>
        <p:spPr/>
        <p:txBody>
          <a:bodyPr/>
          <a:lstStyle/>
          <a:p>
            <a:fld id="{580ED620-40D2-4B80-A60B-3DA4E43726C6}" type="datetimeFigureOut">
              <a:rPr lang="en-US" smtClean="0"/>
              <a:t>11/23/2025</a:t>
            </a:fld>
            <a:endParaRPr lang="en-US"/>
          </a:p>
        </p:txBody>
      </p:sp>
      <p:sp>
        <p:nvSpPr>
          <p:cNvPr id="4" name="Footer Placeholder 3">
            <a:extLst>
              <a:ext uri="{FF2B5EF4-FFF2-40B4-BE49-F238E27FC236}">
                <a16:creationId xmlns:a16="http://schemas.microsoft.com/office/drawing/2014/main" id="{BCF1EEDE-E898-5C34-0644-876C1FB0C3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66CD2B-CC4F-EC6B-D87B-7F41B514422E}"/>
              </a:ext>
            </a:extLst>
          </p:cNvPr>
          <p:cNvSpPr>
            <a:spLocks noGrp="1"/>
          </p:cNvSpPr>
          <p:nvPr>
            <p:ph type="sldNum" sz="quarter" idx="12"/>
          </p:nvPr>
        </p:nvSpPr>
        <p:spPr/>
        <p:txBody>
          <a:bodyPr/>
          <a:lstStyle/>
          <a:p>
            <a:fld id="{88E21B93-4678-4B40-88CC-3AD9807A564C}" type="slidenum">
              <a:rPr lang="en-US" smtClean="0"/>
              <a:t>‹#›</a:t>
            </a:fld>
            <a:endParaRPr lang="en-US"/>
          </a:p>
        </p:txBody>
      </p:sp>
    </p:spTree>
    <p:extLst>
      <p:ext uri="{BB962C8B-B14F-4D97-AF65-F5344CB8AC3E}">
        <p14:creationId xmlns:p14="http://schemas.microsoft.com/office/powerpoint/2010/main" val="996677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F6A333-D24C-0E61-5BBB-2D4836C7C45D}"/>
              </a:ext>
            </a:extLst>
          </p:cNvPr>
          <p:cNvSpPr>
            <a:spLocks noGrp="1"/>
          </p:cNvSpPr>
          <p:nvPr>
            <p:ph type="dt" sz="half" idx="10"/>
          </p:nvPr>
        </p:nvSpPr>
        <p:spPr/>
        <p:txBody>
          <a:bodyPr/>
          <a:lstStyle/>
          <a:p>
            <a:fld id="{580ED620-40D2-4B80-A60B-3DA4E43726C6}" type="datetimeFigureOut">
              <a:rPr lang="en-US" smtClean="0"/>
              <a:t>11/23/2025</a:t>
            </a:fld>
            <a:endParaRPr lang="en-US"/>
          </a:p>
        </p:txBody>
      </p:sp>
      <p:sp>
        <p:nvSpPr>
          <p:cNvPr id="3" name="Footer Placeholder 2">
            <a:extLst>
              <a:ext uri="{FF2B5EF4-FFF2-40B4-BE49-F238E27FC236}">
                <a16:creationId xmlns:a16="http://schemas.microsoft.com/office/drawing/2014/main" id="{1EFECEAF-2E16-BCD5-0088-63B168CA20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E5BD18-E228-4BFD-FB36-BD37180DF352}"/>
              </a:ext>
            </a:extLst>
          </p:cNvPr>
          <p:cNvSpPr>
            <a:spLocks noGrp="1"/>
          </p:cNvSpPr>
          <p:nvPr>
            <p:ph type="sldNum" sz="quarter" idx="12"/>
          </p:nvPr>
        </p:nvSpPr>
        <p:spPr/>
        <p:txBody>
          <a:bodyPr/>
          <a:lstStyle/>
          <a:p>
            <a:fld id="{88E21B93-4678-4B40-88CC-3AD9807A564C}" type="slidenum">
              <a:rPr lang="en-US" smtClean="0"/>
              <a:t>‹#›</a:t>
            </a:fld>
            <a:endParaRPr lang="en-US"/>
          </a:p>
        </p:txBody>
      </p:sp>
    </p:spTree>
    <p:extLst>
      <p:ext uri="{BB962C8B-B14F-4D97-AF65-F5344CB8AC3E}">
        <p14:creationId xmlns:p14="http://schemas.microsoft.com/office/powerpoint/2010/main" val="2592109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23DD-BAE2-1BC4-F08A-9D626E37BB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3BE5FE-7BD2-7FEC-AB79-5187FF34B2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73754A-6B41-5406-8FEB-06669E5AA6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25036B-A6C8-7890-07B5-F47640D88D89}"/>
              </a:ext>
            </a:extLst>
          </p:cNvPr>
          <p:cNvSpPr>
            <a:spLocks noGrp="1"/>
          </p:cNvSpPr>
          <p:nvPr>
            <p:ph type="dt" sz="half" idx="10"/>
          </p:nvPr>
        </p:nvSpPr>
        <p:spPr/>
        <p:txBody>
          <a:bodyPr/>
          <a:lstStyle/>
          <a:p>
            <a:fld id="{580ED620-40D2-4B80-A60B-3DA4E43726C6}" type="datetimeFigureOut">
              <a:rPr lang="en-US" smtClean="0"/>
              <a:t>11/23/2025</a:t>
            </a:fld>
            <a:endParaRPr lang="en-US"/>
          </a:p>
        </p:txBody>
      </p:sp>
      <p:sp>
        <p:nvSpPr>
          <p:cNvPr id="6" name="Footer Placeholder 5">
            <a:extLst>
              <a:ext uri="{FF2B5EF4-FFF2-40B4-BE49-F238E27FC236}">
                <a16:creationId xmlns:a16="http://schemas.microsoft.com/office/drawing/2014/main" id="{6C141302-FC16-265E-F617-5F26E8D05B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A73104-2E3A-7F34-24F0-838697D4CC46}"/>
              </a:ext>
            </a:extLst>
          </p:cNvPr>
          <p:cNvSpPr>
            <a:spLocks noGrp="1"/>
          </p:cNvSpPr>
          <p:nvPr>
            <p:ph type="sldNum" sz="quarter" idx="12"/>
          </p:nvPr>
        </p:nvSpPr>
        <p:spPr/>
        <p:txBody>
          <a:bodyPr/>
          <a:lstStyle/>
          <a:p>
            <a:fld id="{88E21B93-4678-4B40-88CC-3AD9807A564C}" type="slidenum">
              <a:rPr lang="en-US" smtClean="0"/>
              <a:t>‹#›</a:t>
            </a:fld>
            <a:endParaRPr lang="en-US"/>
          </a:p>
        </p:txBody>
      </p:sp>
    </p:spTree>
    <p:extLst>
      <p:ext uri="{BB962C8B-B14F-4D97-AF65-F5344CB8AC3E}">
        <p14:creationId xmlns:p14="http://schemas.microsoft.com/office/powerpoint/2010/main" val="2982692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8E2BD-51B6-4F8D-B869-C7E7F26FBD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6EDE6D-F89C-33C5-2A53-913D4DEA43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FB6563-AF4B-A774-B8E7-E1AD8B4235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D7941F-8061-216A-4745-53A2A67AD73D}"/>
              </a:ext>
            </a:extLst>
          </p:cNvPr>
          <p:cNvSpPr>
            <a:spLocks noGrp="1"/>
          </p:cNvSpPr>
          <p:nvPr>
            <p:ph type="dt" sz="half" idx="10"/>
          </p:nvPr>
        </p:nvSpPr>
        <p:spPr/>
        <p:txBody>
          <a:bodyPr/>
          <a:lstStyle/>
          <a:p>
            <a:fld id="{580ED620-40D2-4B80-A60B-3DA4E43726C6}" type="datetimeFigureOut">
              <a:rPr lang="en-US" smtClean="0"/>
              <a:t>11/23/2025</a:t>
            </a:fld>
            <a:endParaRPr lang="en-US"/>
          </a:p>
        </p:txBody>
      </p:sp>
      <p:sp>
        <p:nvSpPr>
          <p:cNvPr id="6" name="Footer Placeholder 5">
            <a:extLst>
              <a:ext uri="{FF2B5EF4-FFF2-40B4-BE49-F238E27FC236}">
                <a16:creationId xmlns:a16="http://schemas.microsoft.com/office/drawing/2014/main" id="{DA08A239-0C48-C8F8-08D9-4E2CB1D42A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C45D7A-DF03-0E59-41B8-FA8FDCF443D3}"/>
              </a:ext>
            </a:extLst>
          </p:cNvPr>
          <p:cNvSpPr>
            <a:spLocks noGrp="1"/>
          </p:cNvSpPr>
          <p:nvPr>
            <p:ph type="sldNum" sz="quarter" idx="12"/>
          </p:nvPr>
        </p:nvSpPr>
        <p:spPr/>
        <p:txBody>
          <a:bodyPr/>
          <a:lstStyle/>
          <a:p>
            <a:fld id="{88E21B93-4678-4B40-88CC-3AD9807A564C}" type="slidenum">
              <a:rPr lang="en-US" smtClean="0"/>
              <a:t>‹#›</a:t>
            </a:fld>
            <a:endParaRPr lang="en-US"/>
          </a:p>
        </p:txBody>
      </p:sp>
    </p:spTree>
    <p:extLst>
      <p:ext uri="{BB962C8B-B14F-4D97-AF65-F5344CB8AC3E}">
        <p14:creationId xmlns:p14="http://schemas.microsoft.com/office/powerpoint/2010/main" val="3135938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48163-B419-8227-6D6C-732CDC4F59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2A5AFF-92C9-B905-BA33-CBA66BFBE2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3E7629-85C8-2A8D-9941-BBD6EF5AD70C}"/>
              </a:ext>
            </a:extLst>
          </p:cNvPr>
          <p:cNvSpPr>
            <a:spLocks noGrp="1"/>
          </p:cNvSpPr>
          <p:nvPr>
            <p:ph type="dt" sz="half" idx="10"/>
          </p:nvPr>
        </p:nvSpPr>
        <p:spPr/>
        <p:txBody>
          <a:bodyPr/>
          <a:lstStyle/>
          <a:p>
            <a:fld id="{580ED620-40D2-4B80-A60B-3DA4E43726C6}" type="datetimeFigureOut">
              <a:rPr lang="en-US" smtClean="0"/>
              <a:t>11/23/2025</a:t>
            </a:fld>
            <a:endParaRPr lang="en-US"/>
          </a:p>
        </p:txBody>
      </p:sp>
      <p:sp>
        <p:nvSpPr>
          <p:cNvPr id="5" name="Footer Placeholder 4">
            <a:extLst>
              <a:ext uri="{FF2B5EF4-FFF2-40B4-BE49-F238E27FC236}">
                <a16:creationId xmlns:a16="http://schemas.microsoft.com/office/drawing/2014/main" id="{FF8B370B-550B-EA4A-8342-EE8CEDBF24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AE464-D74A-3402-E3B0-0FA614C952D3}"/>
              </a:ext>
            </a:extLst>
          </p:cNvPr>
          <p:cNvSpPr>
            <a:spLocks noGrp="1"/>
          </p:cNvSpPr>
          <p:nvPr>
            <p:ph type="sldNum" sz="quarter" idx="12"/>
          </p:nvPr>
        </p:nvSpPr>
        <p:spPr/>
        <p:txBody>
          <a:bodyPr/>
          <a:lstStyle/>
          <a:p>
            <a:fld id="{88E21B93-4678-4B40-88CC-3AD9807A564C}" type="slidenum">
              <a:rPr lang="en-US" smtClean="0"/>
              <a:t>‹#›</a:t>
            </a:fld>
            <a:endParaRPr lang="en-US"/>
          </a:p>
        </p:txBody>
      </p:sp>
    </p:spTree>
    <p:extLst>
      <p:ext uri="{BB962C8B-B14F-4D97-AF65-F5344CB8AC3E}">
        <p14:creationId xmlns:p14="http://schemas.microsoft.com/office/powerpoint/2010/main" val="3921453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28FA54-3043-6A53-F1DF-9BDC903684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F34E2A0-227C-FC57-CFFD-B85F0AF4D4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011F4A-1627-D29B-C190-D54C0AD01E06}"/>
              </a:ext>
            </a:extLst>
          </p:cNvPr>
          <p:cNvSpPr>
            <a:spLocks noGrp="1"/>
          </p:cNvSpPr>
          <p:nvPr>
            <p:ph type="dt" sz="half" idx="10"/>
          </p:nvPr>
        </p:nvSpPr>
        <p:spPr/>
        <p:txBody>
          <a:bodyPr/>
          <a:lstStyle/>
          <a:p>
            <a:fld id="{580ED620-40D2-4B80-A60B-3DA4E43726C6}" type="datetimeFigureOut">
              <a:rPr lang="en-US" smtClean="0"/>
              <a:t>11/23/2025</a:t>
            </a:fld>
            <a:endParaRPr lang="en-US"/>
          </a:p>
        </p:txBody>
      </p:sp>
      <p:sp>
        <p:nvSpPr>
          <p:cNvPr id="5" name="Footer Placeholder 4">
            <a:extLst>
              <a:ext uri="{FF2B5EF4-FFF2-40B4-BE49-F238E27FC236}">
                <a16:creationId xmlns:a16="http://schemas.microsoft.com/office/drawing/2014/main" id="{7943D331-9CA7-A0B7-8206-5F3A87D530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C31EFF-E77F-8FF8-FBBD-C1C963619F6C}"/>
              </a:ext>
            </a:extLst>
          </p:cNvPr>
          <p:cNvSpPr>
            <a:spLocks noGrp="1"/>
          </p:cNvSpPr>
          <p:nvPr>
            <p:ph type="sldNum" sz="quarter" idx="12"/>
          </p:nvPr>
        </p:nvSpPr>
        <p:spPr/>
        <p:txBody>
          <a:bodyPr/>
          <a:lstStyle/>
          <a:p>
            <a:fld id="{88E21B93-4678-4B40-88CC-3AD9807A564C}" type="slidenum">
              <a:rPr lang="en-US" smtClean="0"/>
              <a:t>‹#›</a:t>
            </a:fld>
            <a:endParaRPr lang="en-US"/>
          </a:p>
        </p:txBody>
      </p:sp>
    </p:spTree>
    <p:extLst>
      <p:ext uri="{BB962C8B-B14F-4D97-AF65-F5344CB8AC3E}">
        <p14:creationId xmlns:p14="http://schemas.microsoft.com/office/powerpoint/2010/main" val="691486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with Pictur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25D86B5-411C-5D53-8E6C-26B857F5B5B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9752AE3-E97E-6381-3066-90B73D6C279A}"/>
              </a:ext>
              <a:ext uri="{C183D7F6-B498-43B3-948B-1728B52AA6E4}">
                <adec:decorative xmlns:adec="http://schemas.microsoft.com/office/drawing/2017/decorative" val="1"/>
              </a:ext>
            </a:extLst>
          </p:cNvPr>
          <p:cNvSpPr/>
          <p:nvPr/>
        </p:nvSpPr>
        <p:spPr>
          <a:xfrm>
            <a:off x="762000" y="762003"/>
            <a:ext cx="10667999" cy="5333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1FC1D47-D22E-C8B6-52EE-977FA326BC59}"/>
              </a:ext>
              <a:ext uri="{C183D7F6-B498-43B3-948B-1728B52AA6E4}">
                <adec:decorative xmlns:adec="http://schemas.microsoft.com/office/drawing/2017/decorative" val="1"/>
              </a:ext>
            </a:extLst>
          </p:cNvPr>
          <p:cNvCxnSpPr>
            <a:cxnSpLocks/>
          </p:cNvCxnSpPr>
          <p:nvPr/>
        </p:nvCxnSpPr>
        <p:spPr>
          <a:xfrm>
            <a:off x="1550741" y="4572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20D13D9-271B-1B45-E2B5-49ADC53F7EFB}"/>
              </a:ext>
            </a:extLst>
          </p:cNvPr>
          <p:cNvSpPr/>
          <p:nvPr/>
        </p:nvSpPr>
        <p:spPr>
          <a:xfrm>
            <a:off x="6590056" y="1283542"/>
            <a:ext cx="4306824" cy="43068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5176"/>
            <a:ext cx="4672584" cy="2841220"/>
          </a:xfrm>
          <a:prstGeom prst="rect">
            <a:avLst/>
          </a:prstGeom>
        </p:spPr>
        <p:txBody>
          <a:bodyPr vert="horz" lIns="91440" tIns="45720" rIns="91440" bIns="45720" rtlCol="0" anchor="t">
            <a:normAutofit/>
          </a:bodyPr>
          <a:lstStyle>
            <a:lvl1pPr>
              <a:defRPr lang="en-US" sz="310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45999" y="4983480"/>
            <a:ext cx="4672584" cy="786384"/>
          </a:xfrm>
          <a:prstGeom prst="rect">
            <a:avLst/>
          </a:prstGeom>
        </p:spPr>
        <p:txBody>
          <a:bodyPr vert="horz" lIns="91440" tIns="45720" rIns="91440" bIns="45720" rtlCol="0">
            <a:normAutofit/>
          </a:bodyPr>
          <a:lstStyle>
            <a:lvl1pPr marL="0" indent="0">
              <a:buNone/>
              <a:defRPr lang="en-US" dirty="0">
                <a:solidFill>
                  <a:schemeClr val="tx1"/>
                </a:solidFill>
              </a:defRPr>
            </a:lvl1pPr>
          </a:lstStyle>
          <a:p>
            <a:pPr lvl="0"/>
            <a:r>
              <a:rPr lang="en-US"/>
              <a:t>Click to edit Master subtitle style</a:t>
            </a:r>
            <a:endParaRPr lang="en-US" dirty="0"/>
          </a:p>
        </p:txBody>
      </p:sp>
      <p:sp>
        <p:nvSpPr>
          <p:cNvPr id="22" name="Picture Placeholder 20">
            <a:extLst>
              <a:ext uri="{FF2B5EF4-FFF2-40B4-BE49-F238E27FC236}">
                <a16:creationId xmlns:a16="http://schemas.microsoft.com/office/drawing/2014/main" id="{FBACAA98-741E-5E01-790D-22D994E62DDB}"/>
              </a:ext>
            </a:extLst>
          </p:cNvPr>
          <p:cNvSpPr>
            <a:spLocks noGrp="1"/>
          </p:cNvSpPr>
          <p:nvPr>
            <p:ph type="pic" sz="quarter" idx="17" hasCustomPrompt="1"/>
          </p:nvPr>
        </p:nvSpPr>
        <p:spPr>
          <a:xfrm>
            <a:off x="6581777" y="1264436"/>
            <a:ext cx="4329128" cy="4329128"/>
          </a:xfrm>
          <a:custGeom>
            <a:avLst/>
            <a:gdLst>
              <a:gd name="connsiteX0" fmla="*/ 2164564 w 4329128"/>
              <a:gd name="connsiteY0" fmla="*/ 0 h 4329128"/>
              <a:gd name="connsiteX1" fmla="*/ 4329128 w 4329128"/>
              <a:gd name="connsiteY1" fmla="*/ 2164564 h 4329128"/>
              <a:gd name="connsiteX2" fmla="*/ 2164564 w 4329128"/>
              <a:gd name="connsiteY2" fmla="*/ 4329128 h 4329128"/>
              <a:gd name="connsiteX3" fmla="*/ 0 w 4329128"/>
              <a:gd name="connsiteY3" fmla="*/ 2164564 h 4329128"/>
              <a:gd name="connsiteX4" fmla="*/ 2164564 w 4329128"/>
              <a:gd name="connsiteY4" fmla="*/ 0 h 4329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128" h="4329128">
                <a:moveTo>
                  <a:pt x="2164564" y="0"/>
                </a:moveTo>
                <a:cubicBezTo>
                  <a:pt x="3360020" y="0"/>
                  <a:pt x="4329128" y="969108"/>
                  <a:pt x="4329128" y="2164564"/>
                </a:cubicBezTo>
                <a:cubicBezTo>
                  <a:pt x="4329128" y="3360020"/>
                  <a:pt x="3360020" y="4329128"/>
                  <a:pt x="2164564" y="4329128"/>
                </a:cubicBezTo>
                <a:cubicBezTo>
                  <a:pt x="969108" y="4329128"/>
                  <a:pt x="0" y="3360020"/>
                  <a:pt x="0" y="2164564"/>
                </a:cubicBezTo>
                <a:cubicBezTo>
                  <a:pt x="0" y="969108"/>
                  <a:pt x="969108" y="0"/>
                  <a:pt x="2164564" y="0"/>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CC8C939-7FAD-347B-1591-43D9B3231526}"/>
              </a:ext>
            </a:extLst>
          </p:cNvPr>
          <p:cNvSpPr>
            <a:spLocks noGrp="1"/>
          </p:cNvSpPr>
          <p:nvPr>
            <p:ph type="ftr" sz="quarter" idx="19"/>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5AAACDE-68BE-0B6C-22AE-1B3B232E2964}"/>
              </a:ext>
            </a:extLst>
          </p:cNvPr>
          <p:cNvSpPr>
            <a:spLocks noGrp="1"/>
          </p:cNvSpPr>
          <p:nvPr>
            <p:ph type="sldNum" sz="quarter" idx="20"/>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AFD31B72-8374-965C-518F-8B0878FD79D0}"/>
              </a:ext>
            </a:extLst>
          </p:cNvPr>
          <p:cNvSpPr>
            <a:spLocks noGrp="1"/>
          </p:cNvSpPr>
          <p:nvPr>
            <p:ph type="dt" sz="half" idx="18"/>
          </p:nvPr>
        </p:nvSpPr>
        <p:spPr/>
        <p:txBody>
          <a:bodyPr/>
          <a:lstStyle>
            <a:lvl1pPr>
              <a:defRPr>
                <a:solidFill>
                  <a:schemeClr val="bg1"/>
                </a:solidFill>
              </a:defRPr>
            </a:lvl1pPr>
          </a:lstStyle>
          <a:p>
            <a:fld id="{1DD12A09-AD48-4A48-AB09-132ADC51F3E7}" type="datetime4">
              <a:rPr lang="en-US" smtClean="0"/>
              <a:t>November 23, 2025</a:t>
            </a:fld>
            <a:endParaRPr lang="en-US"/>
          </a:p>
        </p:txBody>
      </p:sp>
    </p:spTree>
    <p:extLst>
      <p:ext uri="{BB962C8B-B14F-4D97-AF65-F5344CB8AC3E}">
        <p14:creationId xmlns:p14="http://schemas.microsoft.com/office/powerpoint/2010/main" val="14962900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Section Header">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28FE325-7EF4-2BC1-CC28-C3956EA44D90}"/>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Rectangle 7">
            <a:extLst>
              <a:ext uri="{FF2B5EF4-FFF2-40B4-BE49-F238E27FC236}">
                <a16:creationId xmlns:a16="http://schemas.microsoft.com/office/drawing/2014/main" id="{64DC731D-DB3B-8EE9-1728-DB36948ABFE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3" name="Straight Connector 2">
            <a:extLst>
              <a:ext uri="{FF2B5EF4-FFF2-40B4-BE49-F238E27FC236}">
                <a16:creationId xmlns:a16="http://schemas.microsoft.com/office/drawing/2014/main" id="{DD080AD5-EDF0-8614-3A6E-738026A999B2}"/>
              </a:ext>
              <a:ext uri="{C183D7F6-B498-43B3-948B-1728B52AA6E4}">
                <adec:decorative xmlns:adec="http://schemas.microsoft.com/office/drawing/2017/decorative" val="1"/>
              </a:ext>
            </a:extLst>
          </p:cNvPr>
          <p:cNvCxnSpPr>
            <a:cxnSpLocks/>
          </p:cNvCxnSpPr>
          <p:nvPr/>
        </p:nvCxnSpPr>
        <p:spPr>
          <a:xfrm>
            <a:off x="1099874" y="61722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92091" y="2514602"/>
            <a:ext cx="6812280" cy="3194302"/>
          </a:xfrm>
          <a:prstGeom prst="rect">
            <a:avLst/>
          </a:prstGeom>
        </p:spPr>
        <p:txBody>
          <a:bodyPr vert="horz" lIns="91440" tIns="45720" rIns="91440" bIns="45720" rtlCol="0" anchor="b">
            <a:normAutofit/>
          </a:bodyPr>
          <a:lstStyle>
            <a:lvl1pPr>
              <a:defRPr lang="en-US" sz="4400" dirty="0">
                <a:solidFill>
                  <a:schemeClr val="tx1"/>
                </a:solidFill>
              </a:defRPr>
            </a:lvl1pPr>
          </a:lstStyle>
          <a:p>
            <a:pPr lvl="0">
              <a:lnSpc>
                <a:spcPct val="120000"/>
              </a:lnSpc>
            </a:pPr>
            <a:r>
              <a:rPr lang="en-US"/>
              <a:t>Click to edit Master title style</a:t>
            </a:r>
            <a:endParaRPr lang="en-US" dirty="0"/>
          </a:p>
        </p:txBody>
      </p:sp>
      <p:sp>
        <p:nvSpPr>
          <p:cNvPr id="11" name="Footer Placeholder 10">
            <a:extLst>
              <a:ext uri="{FF2B5EF4-FFF2-40B4-BE49-F238E27FC236}">
                <a16:creationId xmlns:a16="http://schemas.microsoft.com/office/drawing/2014/main" id="{3963C56F-1F77-4203-D488-3829DB3A81DC}"/>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58E9AB81-9E4D-493C-6966-CE7F84541967}"/>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CCB33265-7891-EEAC-2A77-0EF54FFEF807}"/>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tx1"/>
                </a:solidFill>
              </a:defRPr>
            </a:lvl1pPr>
          </a:lstStyle>
          <a:p>
            <a:fld id="{DD4C18C5-23B1-43CA-8D0C-0D76624D967E}" type="datetime4">
              <a:rPr lang="en-US" smtClean="0"/>
              <a:t>November 23, 2025</a:t>
            </a:fld>
            <a:endParaRPr lang="en-US"/>
          </a:p>
        </p:txBody>
      </p:sp>
    </p:spTree>
    <p:extLst>
      <p:ext uri="{BB962C8B-B14F-4D97-AF65-F5344CB8AC3E}">
        <p14:creationId xmlns:p14="http://schemas.microsoft.com/office/powerpoint/2010/main" val="26335972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19477"/>
            <a:ext cx="4617720" cy="1197864"/>
          </a:xfrm>
          <a:prstGeom prst="rect">
            <a:avLst/>
          </a:prstGeom>
        </p:spPr>
        <p:txBody>
          <a:bodyPr vert="horz" lIns="91440" tIns="45720" rIns="91440" bIns="45720" rtlCol="0" anchor="t">
            <a:normAutofit/>
          </a:bodyPr>
          <a:lstStyle>
            <a:lvl1pPr>
              <a:defRPr lang="en-US"/>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950976" y="2148840"/>
            <a:ext cx="3877056" cy="3877056"/>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43016" y="950976"/>
            <a:ext cx="558698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9EC1A304-701C-41E4-B1CD-607E1F9CDC82}" type="datetime4">
              <a:rPr lang="en-US" smtClean="0"/>
              <a:t>November 23, 2025</a:t>
            </a:fld>
            <a:endParaRPr lang="en-US"/>
          </a:p>
        </p:txBody>
      </p:sp>
    </p:spTree>
    <p:extLst>
      <p:ext uri="{BB962C8B-B14F-4D97-AF65-F5344CB8AC3E}">
        <p14:creationId xmlns:p14="http://schemas.microsoft.com/office/powerpoint/2010/main" val="20931488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onclusion">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115FEF-9929-7E5F-F0A4-112836087D7B}"/>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937FE2A9-21DD-FB38-F9C9-5420B56B7136}"/>
              </a:ext>
              <a:ext uri="{C183D7F6-B498-43B3-948B-1728B52AA6E4}">
                <adec:decorative xmlns:adec="http://schemas.microsoft.com/office/drawing/2017/decorative" val="1"/>
              </a:ext>
            </a:extLst>
          </p:cNvPr>
          <p:cNvCxnSpPr>
            <a:cxnSpLocks/>
          </p:cNvCxnSpPr>
          <p:nvPr/>
        </p:nvCxnSpPr>
        <p:spPr>
          <a:xfrm>
            <a:off x="793007" y="76199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033272"/>
            <a:ext cx="10680191" cy="1901952"/>
          </a:xfrm>
          <a:prstGeom prst="rect">
            <a:avLst/>
          </a:prstGeom>
        </p:spPr>
        <p:txBody>
          <a:bodyPr anchor="t">
            <a:normAutofit/>
          </a:bodyPr>
          <a:lstStyle>
            <a:lvl1pPr>
              <a:lnSpc>
                <a:spcPct val="120000"/>
              </a:lnSpc>
              <a:defRPr sz="4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593592"/>
            <a:ext cx="10680192" cy="2688336"/>
          </a:xfrm>
          <a:prstGeom prst="rect">
            <a:avLst/>
          </a:prstGeo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F424D638-A40E-7DBE-0BDA-0653484A371B}"/>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Slide Number Placeholder 9">
            <a:extLst>
              <a:ext uri="{FF2B5EF4-FFF2-40B4-BE49-F238E27FC236}">
                <a16:creationId xmlns:a16="http://schemas.microsoft.com/office/drawing/2014/main" id="{D432539E-E64F-6ECB-8128-09189D20DDE8}"/>
              </a:ext>
            </a:extLst>
          </p:cNvPr>
          <p:cNvSpPr>
            <a:spLocks noGrp="1"/>
          </p:cNvSpPr>
          <p:nvPr>
            <p:ph type="sldNum" sz="quarter" idx="16"/>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7" name="Date Placeholder 6">
            <a:extLst>
              <a:ext uri="{FF2B5EF4-FFF2-40B4-BE49-F238E27FC236}">
                <a16:creationId xmlns:a16="http://schemas.microsoft.com/office/drawing/2014/main" id="{260958E1-1A6E-215C-E558-5C2B7E025D13}"/>
              </a:ext>
            </a:extLst>
          </p:cNvPr>
          <p:cNvSpPr>
            <a:spLocks noGrp="1"/>
          </p:cNvSpPr>
          <p:nvPr>
            <p:ph type="dt" sz="half" idx="14"/>
          </p:nvPr>
        </p:nvSpPr>
        <p:spPr/>
        <p:txBody>
          <a:bodyPr/>
          <a:lstStyle>
            <a:lvl1pPr>
              <a:defRPr>
                <a:solidFill>
                  <a:schemeClr val="tx1"/>
                </a:solidFill>
              </a:defRPr>
            </a:lvl1pPr>
          </a:lstStyle>
          <a:p>
            <a:fld id="{C893B396-7097-498E-8C2A-9D79ADCCCAED}" type="datetime4">
              <a:rPr lang="en-US" smtClean="0"/>
              <a:t>November 23, 2025</a:t>
            </a:fld>
            <a:endParaRPr lang="en-US"/>
          </a:p>
        </p:txBody>
      </p:sp>
    </p:spTree>
    <p:extLst>
      <p:ext uri="{BB962C8B-B14F-4D97-AF65-F5344CB8AC3E}">
        <p14:creationId xmlns:p14="http://schemas.microsoft.com/office/powerpoint/2010/main" val="99470488"/>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with Picture 8">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E0D260-A526-F079-44B3-C9B03816FFDD}"/>
              </a:ext>
            </a:extLst>
          </p:cNvPr>
          <p:cNvSpPr>
            <a:spLocks noGrp="1"/>
          </p:cNvSpPr>
          <p:nvPr>
            <p:ph type="title"/>
          </p:nvPr>
        </p:nvSpPr>
        <p:spPr>
          <a:xfrm>
            <a:off x="7569582" y="758952"/>
            <a:ext cx="3842130" cy="1143000"/>
          </a:xfrm>
          <a:prstGeom prst="rect">
            <a:avLst/>
          </a:prstGeom>
        </p:spPr>
        <p:txBody>
          <a:body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1" y="0"/>
            <a:ext cx="6835155" cy="6857999"/>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569582" y="2258568"/>
            <a:ext cx="3700397"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4FD3D564-0365-46F9-82BC-CDD300CEFE62}" type="datetime4">
              <a:rPr lang="en-US" smtClean="0"/>
              <a:t>November 23, 2025</a:t>
            </a:fld>
            <a:endParaRPr lang="en-US"/>
          </a:p>
        </p:txBody>
      </p:sp>
    </p:spTree>
    <p:extLst>
      <p:ext uri="{BB962C8B-B14F-4D97-AF65-F5344CB8AC3E}">
        <p14:creationId xmlns:p14="http://schemas.microsoft.com/office/powerpoint/2010/main" val="333683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Content with Pictur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7" y="256032"/>
            <a:ext cx="6949439" cy="1124712"/>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755648"/>
            <a:ext cx="694944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8129016" y="758952"/>
            <a:ext cx="330098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A6A8C34F-BCF9-44D6-9A61-F95110E279A3}" type="datetime4">
              <a:rPr lang="en-US" smtClean="0"/>
              <a:t>November 23, 2025</a:t>
            </a:fld>
            <a:endParaRPr lang="en-US"/>
          </a:p>
        </p:txBody>
      </p:sp>
    </p:spTree>
    <p:extLst>
      <p:ext uri="{BB962C8B-B14F-4D97-AF65-F5344CB8AC3E}">
        <p14:creationId xmlns:p14="http://schemas.microsoft.com/office/powerpoint/2010/main" val="1272883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E5C01-E361-BD75-D889-71D271415D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62B1C2-60A4-87E4-4C5F-864D271F55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62F653-54CD-E027-3E87-6491A7B0C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0ED620-40D2-4B80-A60B-3DA4E43726C6}" type="datetimeFigureOut">
              <a:rPr lang="en-US" smtClean="0"/>
              <a:t>11/23/2025</a:t>
            </a:fld>
            <a:endParaRPr lang="en-US"/>
          </a:p>
        </p:txBody>
      </p:sp>
      <p:sp>
        <p:nvSpPr>
          <p:cNvPr id="5" name="Footer Placeholder 4">
            <a:extLst>
              <a:ext uri="{FF2B5EF4-FFF2-40B4-BE49-F238E27FC236}">
                <a16:creationId xmlns:a16="http://schemas.microsoft.com/office/drawing/2014/main" id="{28493903-3C74-CADB-428A-7188C8EA36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C5DC5FD-39A6-48CF-E0B0-BA38AE1103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E21B93-4678-4B40-88CC-3AD9807A564C}" type="slidenum">
              <a:rPr lang="en-US" smtClean="0"/>
              <a:t>‹#›</a:t>
            </a:fld>
            <a:endParaRPr lang="en-US"/>
          </a:p>
        </p:txBody>
      </p:sp>
    </p:spTree>
    <p:extLst>
      <p:ext uri="{BB962C8B-B14F-4D97-AF65-F5344CB8AC3E}">
        <p14:creationId xmlns:p14="http://schemas.microsoft.com/office/powerpoint/2010/main" val="3386548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hyperlink" Target="https://iabac.org/blog/data-engineering-vs-machine-learning"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hyperlink" Target="https://iabac.org/blog/data-science-vs-data-analytics)"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C2CCD-578B-130F-B645-1C1D4E687E6A}"/>
              </a:ext>
            </a:extLst>
          </p:cNvPr>
          <p:cNvSpPr>
            <a:spLocks noGrp="1"/>
          </p:cNvSpPr>
          <p:nvPr>
            <p:ph type="ctrTitle"/>
          </p:nvPr>
        </p:nvSpPr>
        <p:spPr>
          <a:xfrm>
            <a:off x="1345999" y="1235176"/>
            <a:ext cx="4672584" cy="2841220"/>
          </a:xfrm>
        </p:spPr>
        <p:txBody>
          <a:bodyPr anchor="t">
            <a:normAutofit/>
          </a:bodyPr>
          <a:lstStyle/>
          <a:p>
            <a:r>
              <a:rPr lang="en-US" dirty="0"/>
              <a:t>Global Student Migration – Predictive Analytics</a:t>
            </a:r>
          </a:p>
        </p:txBody>
      </p:sp>
      <p:sp>
        <p:nvSpPr>
          <p:cNvPr id="3" name="Subtitle 2">
            <a:extLst>
              <a:ext uri="{FF2B5EF4-FFF2-40B4-BE49-F238E27FC236}">
                <a16:creationId xmlns:a16="http://schemas.microsoft.com/office/drawing/2014/main" id="{5B7A74EE-52FB-488F-C961-18A21E915FA8}"/>
              </a:ext>
            </a:extLst>
          </p:cNvPr>
          <p:cNvSpPr>
            <a:spLocks noGrp="1"/>
          </p:cNvSpPr>
          <p:nvPr>
            <p:ph type="subTitle" idx="1"/>
          </p:nvPr>
        </p:nvSpPr>
        <p:spPr>
          <a:xfrm>
            <a:off x="1345999" y="4983480"/>
            <a:ext cx="4672584" cy="786384"/>
          </a:xfrm>
        </p:spPr>
        <p:txBody>
          <a:bodyPr>
            <a:normAutofit fontScale="70000" lnSpcReduction="20000"/>
          </a:bodyPr>
          <a:lstStyle/>
          <a:p>
            <a:r>
              <a:rPr lang="en-US" dirty="0"/>
              <a:t>Analyzing international student trends using advanced data techniques</a:t>
            </a:r>
          </a:p>
        </p:txBody>
      </p:sp>
      <p:pic>
        <p:nvPicPr>
          <p:cNvPr id="5" name="Picture Placeholder 4" descr="clean room in pharmaceutical factory with technician in blue">
            <a:extLst>
              <a:ext uri="{FF2B5EF4-FFF2-40B4-BE49-F238E27FC236}">
                <a16:creationId xmlns:a16="http://schemas.microsoft.com/office/drawing/2014/main" id="{4CE2BD8B-5E36-419F-BA8F-3E07998495C8}"/>
              </a:ext>
            </a:extLst>
          </p:cNvPr>
          <p:cNvPicPr>
            <a:picLocks noGrp="1" noChangeAspect="1"/>
          </p:cNvPicPr>
          <p:nvPr>
            <p:ph type="pic" sz="quarter" idx="17"/>
          </p:nvPr>
        </p:nvPicPr>
        <p:blipFill>
          <a:blip r:embed="rId3"/>
          <a:srcRect l="28401" r="4849"/>
          <a:stretch>
            <a:fillRect/>
          </a:stretch>
        </p:blipFill>
        <p:spPr>
          <a:xfrm>
            <a:off x="6581777" y="1264436"/>
            <a:ext cx="4329128" cy="4329128"/>
          </a:xfrm>
          <a:custGeom>
            <a:avLst/>
            <a:gdLst>
              <a:gd name="connsiteX0" fmla="*/ 3048000 w 12192000"/>
              <a:gd name="connsiteY0" fmla="*/ 1114197 h 6858000"/>
              <a:gd name="connsiteX1" fmla="*/ 733197 w 12192000"/>
              <a:gd name="connsiteY1" fmla="*/ 3429000 h 6858000"/>
              <a:gd name="connsiteX2" fmla="*/ 3048000 w 12192000"/>
              <a:gd name="connsiteY2" fmla="*/ 5743803 h 6858000"/>
              <a:gd name="connsiteX3" fmla="*/ 5362803 w 12192000"/>
              <a:gd name="connsiteY3" fmla="*/ 3429000 h 6858000"/>
              <a:gd name="connsiteX4" fmla="*/ 3048000 w 12192000"/>
              <a:gd name="connsiteY4" fmla="*/ 111419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3048000" y="1114197"/>
                </a:moveTo>
                <a:cubicBezTo>
                  <a:pt x="1769570" y="1114197"/>
                  <a:pt x="733197" y="2150570"/>
                  <a:pt x="733197" y="3429000"/>
                </a:cubicBezTo>
                <a:cubicBezTo>
                  <a:pt x="733197" y="4707430"/>
                  <a:pt x="1769570" y="5743803"/>
                  <a:pt x="3048000" y="5743803"/>
                </a:cubicBezTo>
                <a:cubicBezTo>
                  <a:pt x="4326430" y="5743803"/>
                  <a:pt x="5362803" y="4707430"/>
                  <a:pt x="5362803" y="3429000"/>
                </a:cubicBezTo>
                <a:cubicBezTo>
                  <a:pt x="5362803" y="2150570"/>
                  <a:pt x="4326430" y="1114197"/>
                  <a:pt x="3048000" y="1114197"/>
                </a:cubicBezTo>
                <a:close/>
                <a:moveTo>
                  <a:pt x="0" y="0"/>
                </a:moveTo>
                <a:lnTo>
                  <a:pt x="12192000" y="0"/>
                </a:lnTo>
                <a:lnTo>
                  <a:pt x="12192000" y="6858000"/>
                </a:lnTo>
                <a:lnTo>
                  <a:pt x="0" y="6858000"/>
                </a:lnTo>
                <a:close/>
              </a:path>
            </a:pathLst>
          </a:custGeom>
          <a:noFill/>
        </p:spPr>
      </p:pic>
    </p:spTree>
    <p:extLst>
      <p:ext uri="{BB962C8B-B14F-4D97-AF65-F5344CB8AC3E}">
        <p14:creationId xmlns:p14="http://schemas.microsoft.com/office/powerpoint/2010/main" val="3737772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B52E-8020-0E30-4885-78BF341A119D}"/>
              </a:ext>
            </a:extLst>
          </p:cNvPr>
          <p:cNvSpPr>
            <a:spLocks noGrp="1"/>
          </p:cNvSpPr>
          <p:nvPr>
            <p:ph type="ctrTitle"/>
          </p:nvPr>
        </p:nvSpPr>
        <p:spPr>
          <a:xfrm>
            <a:off x="992091" y="2514602"/>
            <a:ext cx="6812280" cy="3194302"/>
          </a:xfrm>
        </p:spPr>
        <p:txBody>
          <a:bodyPr anchor="b">
            <a:normAutofit/>
          </a:bodyPr>
          <a:lstStyle/>
          <a:p>
            <a:r>
              <a:rPr lang="en-US"/>
              <a:t>Introduction and Data Overview</a:t>
            </a:r>
          </a:p>
        </p:txBody>
      </p:sp>
    </p:spTree>
    <p:extLst>
      <p:ext uri="{BB962C8B-B14F-4D97-AF65-F5344CB8AC3E}">
        <p14:creationId xmlns:p14="http://schemas.microsoft.com/office/powerpoint/2010/main" val="21837344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1C8656-B403-0226-9AF3-E514EBEC3995}"/>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Introduction</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1E4B4B4C-03B2-3506-18EC-C8F8D897071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dirty="0"/>
              <a:t>Global Student Migration</a:t>
            </a:r>
          </a:p>
          <a:p>
            <a:pPr marL="0" lvl="1" indent="0">
              <a:buFont typeface="Arial" panose="020B0604020202020204" pitchFamily="34" charset="0"/>
              <a:buNone/>
            </a:pPr>
            <a:r>
              <a:rPr lang="en-US" sz="1400" dirty="0"/>
              <a:t>Millions of students migrate annually to countries like the US, UK, Canada, Australia, and UAE for education and opportunities.</a:t>
            </a:r>
          </a:p>
          <a:p>
            <a:pPr marL="0" indent="0">
              <a:spcBef>
                <a:spcPts val="2500"/>
              </a:spcBef>
              <a:buFont typeface="Arial" panose="020B0604020202020204" pitchFamily="34" charset="0"/>
              <a:buNone/>
            </a:pPr>
            <a:r>
              <a:rPr lang="en-US" sz="1400" b="1" dirty="0"/>
              <a:t>Factors Driving Migration</a:t>
            </a:r>
          </a:p>
          <a:p>
            <a:pPr marL="0" lvl="1" indent="0">
              <a:buFont typeface="Arial" panose="020B0604020202020204" pitchFamily="34" charset="0"/>
              <a:buNone/>
            </a:pPr>
            <a:r>
              <a:rPr lang="en-US" sz="1400" dirty="0"/>
              <a:t>Academic quality, career prospects, financial aid, and post-study work policies motivate international student migration.</a:t>
            </a:r>
          </a:p>
          <a:p>
            <a:pPr marL="0" indent="0">
              <a:spcBef>
                <a:spcPts val="2500"/>
              </a:spcBef>
              <a:buFont typeface="Arial" panose="020B0604020202020204" pitchFamily="34" charset="0"/>
              <a:buNone/>
            </a:pPr>
            <a:r>
              <a:rPr lang="en-US" sz="1400" b="1" dirty="0"/>
              <a:t>Predictive Analytics Project</a:t>
            </a:r>
          </a:p>
          <a:p>
            <a:pPr marL="0" lvl="1" indent="0">
              <a:buFont typeface="Arial" panose="020B0604020202020204" pitchFamily="34" charset="0"/>
              <a:buNone/>
            </a:pPr>
            <a:r>
              <a:rPr lang="en-US" sz="1400" dirty="0"/>
              <a:t>The project uses data analytics to forecast student migration trends and assess impacts of disruptions like COVID-19.</a:t>
            </a:r>
          </a:p>
          <a:p>
            <a:pPr marL="0" indent="0">
              <a:spcBef>
                <a:spcPts val="2500"/>
              </a:spcBef>
              <a:buFont typeface="Arial" panose="020B0604020202020204" pitchFamily="34" charset="0"/>
              <a:buNone/>
            </a:pPr>
            <a:r>
              <a:rPr lang="en-US" sz="1400" b="1" dirty="0"/>
              <a:t>Policy and Socio-economic Impacts</a:t>
            </a:r>
          </a:p>
          <a:p>
            <a:pPr marL="0" lvl="1" indent="0">
              <a:buFont typeface="Arial" panose="020B0604020202020204" pitchFamily="34" charset="0"/>
              <a:buNone/>
            </a:pPr>
            <a:r>
              <a:rPr lang="en-US" sz="1400" dirty="0"/>
              <a:t>Study explores immigration reforms, post-study rights, and effects like brain drain and brain gain on economies.</a:t>
            </a:r>
          </a:p>
        </p:txBody>
      </p:sp>
      <p:pic>
        <p:nvPicPr>
          <p:cNvPr id="5" name="Content Placeholder 4" descr="Books digital 3d concept ">
            <a:extLst>
              <a:ext uri="{FF2B5EF4-FFF2-40B4-BE49-F238E27FC236}">
                <a16:creationId xmlns:a16="http://schemas.microsoft.com/office/drawing/2014/main" id="{4062A449-704A-431D-817A-1D6B9B32463C}"/>
              </a:ext>
            </a:extLst>
          </p:cNvPr>
          <p:cNvPicPr>
            <a:picLocks noGrp="1" noChangeAspect="1"/>
          </p:cNvPicPr>
          <p:nvPr>
            <p:ph type="pic" sz="quarter" idx="18"/>
          </p:nvPr>
        </p:nvPicPr>
        <p:blipFill>
          <a:blip r:embed="rId3"/>
          <a:srcRect l="17947" r="27938" b="2"/>
          <a:stretch>
            <a:fillRect/>
          </a:stretch>
        </p:blipFill>
        <p:spPr>
          <a:xfrm>
            <a:off x="7675658" y="2093976"/>
            <a:ext cx="3941064" cy="4096512"/>
          </a:xfrm>
          <a:prstGeom prst="rect">
            <a:avLst/>
          </a:prstGeom>
          <a:noFill/>
        </p:spPr>
      </p:pic>
    </p:spTree>
    <p:extLst>
      <p:ext uri="{BB962C8B-B14F-4D97-AF65-F5344CB8AC3E}">
        <p14:creationId xmlns:p14="http://schemas.microsoft.com/office/powerpoint/2010/main" val="14419660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88646B-FD5F-0D65-1230-D8720CCA225D}"/>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Data Used</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FCA42C68-CFA1-4538-18BA-027AC7EAF12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a:t>Dataset Composition</a:t>
            </a:r>
          </a:p>
          <a:p>
            <a:pPr marL="0" lvl="1" indent="0">
              <a:buFont typeface="Arial" panose="020B0604020202020204" pitchFamily="34" charset="0"/>
              <a:buNone/>
            </a:pPr>
            <a:r>
              <a:rPr lang="en-US" sz="1400"/>
              <a:t>The dataset contains over 5,000 student observations across 20 variables including country, enrollment year, and academic indicators.</a:t>
            </a:r>
          </a:p>
          <a:p>
            <a:pPr marL="0" indent="0">
              <a:spcBef>
                <a:spcPts val="2500"/>
              </a:spcBef>
              <a:buFont typeface="Arial" panose="020B0604020202020204" pitchFamily="34" charset="0"/>
              <a:buNone/>
            </a:pPr>
            <a:r>
              <a:rPr lang="en-US" sz="1400" b="1"/>
              <a:t>Key Variables</a:t>
            </a:r>
          </a:p>
          <a:p>
            <a:pPr marL="0" lvl="1" indent="0">
              <a:buFont typeface="Arial" panose="020B0604020202020204" pitchFamily="34" charset="0"/>
              <a:buNone/>
            </a:pPr>
            <a:r>
              <a:rPr lang="en-US" sz="1400"/>
              <a:t>Important variables include origin and destination countries, GPA, test scores, scholarship rate, and placement rate.</a:t>
            </a:r>
          </a:p>
          <a:p>
            <a:pPr marL="0" indent="0">
              <a:spcBef>
                <a:spcPts val="2500"/>
              </a:spcBef>
              <a:buFont typeface="Arial" panose="020B0604020202020204" pitchFamily="34" charset="0"/>
              <a:buNone/>
            </a:pPr>
            <a:r>
              <a:rPr lang="en-US" sz="1400" b="1"/>
              <a:t>Temporal Coverage</a:t>
            </a:r>
          </a:p>
          <a:p>
            <a:pPr marL="0" lvl="1" indent="0">
              <a:buFont typeface="Arial" panose="020B0604020202020204" pitchFamily="34" charset="0"/>
              <a:buNone/>
            </a:pPr>
            <a:r>
              <a:rPr lang="en-US" sz="1400"/>
              <a:t>The data spans pre-pandemic and pandemic periods, allowing analysis of migration trends under varying conditions.</a:t>
            </a:r>
          </a:p>
          <a:p>
            <a:pPr marL="0" indent="0">
              <a:spcBef>
                <a:spcPts val="2500"/>
              </a:spcBef>
              <a:buFont typeface="Arial" panose="020B0604020202020204" pitchFamily="34" charset="0"/>
              <a:buNone/>
            </a:pPr>
            <a:r>
              <a:rPr lang="en-US" sz="1400" b="1"/>
              <a:t>Purpose and Insights</a:t>
            </a:r>
          </a:p>
          <a:p>
            <a:pPr marL="0" lvl="1" indent="0">
              <a:buFont typeface="Arial" panose="020B0604020202020204" pitchFamily="34" charset="0"/>
              <a:buNone/>
            </a:pPr>
            <a:r>
              <a:rPr lang="en-US" sz="1400"/>
              <a:t>The dataset supports predictive modeling to understand academic, financial, and country factors influencing student migration.</a:t>
            </a:r>
          </a:p>
        </p:txBody>
      </p:sp>
      <p:pic>
        <p:nvPicPr>
          <p:cNvPr id="5" name="Content Placeholder 4" descr="Shot of a businessman looking thoughtfully at a graph against a white background">
            <a:extLst>
              <a:ext uri="{FF2B5EF4-FFF2-40B4-BE49-F238E27FC236}">
                <a16:creationId xmlns:a16="http://schemas.microsoft.com/office/drawing/2014/main" id="{6497F534-75C9-4ADF-B976-569C1468BF20}"/>
              </a:ext>
            </a:extLst>
          </p:cNvPr>
          <p:cNvPicPr>
            <a:picLocks noGrp="1" noChangeAspect="1"/>
          </p:cNvPicPr>
          <p:nvPr>
            <p:ph type="pic" sz="quarter" idx="18"/>
          </p:nvPr>
        </p:nvPicPr>
        <p:blipFill>
          <a:blip r:embed="rId3"/>
          <a:srcRect r="35784" b="2"/>
          <a:stretch>
            <a:fillRect/>
          </a:stretch>
        </p:blipFill>
        <p:spPr>
          <a:xfrm>
            <a:off x="7675658" y="2093976"/>
            <a:ext cx="3941064" cy="4096512"/>
          </a:xfrm>
          <a:prstGeom prst="rect">
            <a:avLst/>
          </a:prstGeom>
          <a:noFill/>
        </p:spPr>
      </p:pic>
    </p:spTree>
    <p:extLst>
      <p:ext uri="{BB962C8B-B14F-4D97-AF65-F5344CB8AC3E}">
        <p14:creationId xmlns:p14="http://schemas.microsoft.com/office/powerpoint/2010/main" val="28517109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25050-ECE8-0A9E-488A-E50930EE5898}"/>
              </a:ext>
            </a:extLst>
          </p:cNvPr>
          <p:cNvSpPr>
            <a:spLocks noGrp="1"/>
          </p:cNvSpPr>
          <p:nvPr>
            <p:ph type="ctrTitle"/>
          </p:nvPr>
        </p:nvSpPr>
        <p:spPr>
          <a:xfrm>
            <a:off x="992091" y="2514602"/>
            <a:ext cx="6812280" cy="3194302"/>
          </a:xfrm>
        </p:spPr>
        <p:txBody>
          <a:bodyPr anchor="b">
            <a:normAutofit/>
          </a:bodyPr>
          <a:lstStyle/>
          <a:p>
            <a:r>
              <a:rPr lang="en-US"/>
              <a:t>Data Preparation and Visualization</a:t>
            </a:r>
          </a:p>
        </p:txBody>
      </p:sp>
    </p:spTree>
    <p:extLst>
      <p:ext uri="{BB962C8B-B14F-4D97-AF65-F5344CB8AC3E}">
        <p14:creationId xmlns:p14="http://schemas.microsoft.com/office/powerpoint/2010/main" val="11668784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F436DB-918D-1EFE-F866-BC6FE0F4E5B3}"/>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Data Preparation</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B9DEBA9B-9243-3AEB-E8A7-12560A29EF4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dirty="0"/>
              <a:t>Data Cleaning and Handling</a:t>
            </a:r>
          </a:p>
          <a:p>
            <a:pPr marL="0" lvl="1" indent="0">
              <a:buFont typeface="Arial" panose="020B0604020202020204" pitchFamily="34" charset="0"/>
              <a:buNone/>
            </a:pPr>
            <a:r>
              <a:rPr lang="en-US" sz="1400" dirty="0"/>
              <a:t>Duplicate rows were removed and missing values replaced with 'Unknown' to maintain data integrity and completeness.</a:t>
            </a:r>
          </a:p>
          <a:p>
            <a:pPr marL="0" indent="0">
              <a:spcBef>
                <a:spcPts val="2500"/>
              </a:spcBef>
              <a:buFont typeface="Arial" panose="020B0604020202020204" pitchFamily="34" charset="0"/>
              <a:buNone/>
            </a:pPr>
            <a:r>
              <a:rPr lang="en-US" sz="1400" b="1" dirty="0"/>
              <a:t>Data Aggregation</a:t>
            </a:r>
          </a:p>
          <a:p>
            <a:pPr marL="0" lvl="1" indent="0">
              <a:buFont typeface="Arial" panose="020B0604020202020204" pitchFamily="34" charset="0"/>
              <a:buNone/>
            </a:pPr>
            <a:r>
              <a:rPr lang="en-US" sz="1400" dirty="0"/>
              <a:t>Data was aggregated by country, destination, and year to create a structured dataset for forecasting analysis.</a:t>
            </a:r>
          </a:p>
          <a:p>
            <a:pPr marL="0" indent="0">
              <a:spcBef>
                <a:spcPts val="2500"/>
              </a:spcBef>
              <a:buFont typeface="Arial" panose="020B0604020202020204" pitchFamily="34" charset="0"/>
              <a:buNone/>
            </a:pPr>
            <a:r>
              <a:rPr lang="en-US" sz="1400" b="1" dirty="0"/>
              <a:t>Feature Encoding and Scaling</a:t>
            </a:r>
          </a:p>
          <a:p>
            <a:pPr marL="0" lvl="1" indent="0">
              <a:buFont typeface="Arial" panose="020B0604020202020204" pitchFamily="34" charset="0"/>
              <a:buNone/>
            </a:pPr>
            <a:r>
              <a:rPr lang="en-US" sz="1400" dirty="0"/>
              <a:t>Categorical variables were label-encoded and numerical features scaled using </a:t>
            </a:r>
            <a:r>
              <a:rPr lang="en-US" sz="1400" dirty="0" err="1"/>
              <a:t>MinMax</a:t>
            </a:r>
            <a:r>
              <a:rPr lang="en-US" sz="1400" dirty="0"/>
              <a:t> normalization for model compatibility.</a:t>
            </a:r>
          </a:p>
          <a:p>
            <a:pPr marL="0" indent="0">
              <a:spcBef>
                <a:spcPts val="2500"/>
              </a:spcBef>
              <a:buFont typeface="Arial" panose="020B0604020202020204" pitchFamily="34" charset="0"/>
              <a:buNone/>
            </a:pPr>
            <a:r>
              <a:rPr lang="en-US" sz="1400" b="1" dirty="0"/>
              <a:t>Forecasting Model Windows</a:t>
            </a:r>
          </a:p>
          <a:p>
            <a:pPr marL="0" lvl="1" indent="0">
              <a:buFont typeface="Arial" panose="020B0604020202020204" pitchFamily="34" charset="0"/>
              <a:buNone/>
            </a:pPr>
            <a:r>
              <a:rPr lang="en-US" sz="1400" dirty="0"/>
              <a:t>Two forecasting windows tested to simulate real-world scenarios: Model Set A up to 2019, Model Set B up to 2020.</a:t>
            </a:r>
          </a:p>
        </p:txBody>
      </p:sp>
      <p:pic>
        <p:nvPicPr>
          <p:cNvPr id="5" name="Content Placeholder 4">
            <a:extLst>
              <a:ext uri="{FF2B5EF4-FFF2-40B4-BE49-F238E27FC236}">
                <a16:creationId xmlns:a16="http://schemas.microsoft.com/office/drawing/2014/main" id="{4A7F62F1-81A9-465B-8424-428809BE029B}"/>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r="36745" b="-1"/>
          <a:stretch>
            <a:fillRect/>
          </a:stretch>
        </p:blipFill>
        <p:spPr>
          <a:xfrm>
            <a:off x="7675658" y="2093976"/>
            <a:ext cx="3941064" cy="4096512"/>
          </a:xfrm>
          <a:prstGeom prst="rect">
            <a:avLst/>
          </a:prstGeom>
          <a:noFill/>
        </p:spPr>
      </p:pic>
    </p:spTree>
    <p:extLst>
      <p:ext uri="{BB962C8B-B14F-4D97-AF65-F5344CB8AC3E}">
        <p14:creationId xmlns:p14="http://schemas.microsoft.com/office/powerpoint/2010/main" val="1330471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72709-6DAF-44DB-CCC0-15F10D558E40}"/>
              </a:ext>
            </a:extLst>
          </p:cNvPr>
          <p:cNvSpPr>
            <a:spLocks noGrp="1"/>
          </p:cNvSpPr>
          <p:nvPr>
            <p:ph type="title"/>
          </p:nvPr>
        </p:nvSpPr>
        <p:spPr>
          <a:xfrm>
            <a:off x="612647" y="1033272"/>
            <a:ext cx="10680191" cy="1901952"/>
          </a:xfrm>
        </p:spPr>
        <p:txBody>
          <a:bodyPr anchor="t">
            <a:normAutofit/>
          </a:bodyPr>
          <a:lstStyle/>
          <a:p>
            <a:r>
              <a:rPr lang="en-US" dirty="0"/>
              <a:t>Visualizations</a:t>
            </a:r>
          </a:p>
        </p:txBody>
      </p:sp>
      <p:graphicFrame>
        <p:nvGraphicFramePr>
          <p:cNvPr id="5" name="Content Placeholder 4">
            <a:extLst>
              <a:ext uri="{FF2B5EF4-FFF2-40B4-BE49-F238E27FC236}">
                <a16:creationId xmlns:a16="http://schemas.microsoft.com/office/drawing/2014/main" id="{75128253-F00D-4DD1-ACA3-5E5304771DA9}"/>
              </a:ext>
            </a:extLst>
          </p:cNvPr>
          <p:cNvGraphicFramePr>
            <a:graphicFrameLocks noGrp="1"/>
          </p:cNvGraphicFramePr>
          <p:nvPr>
            <p:ph sz="quarter" idx="13"/>
            <p:extLst>
              <p:ext uri="{D42A27DB-BD31-4B8C-83A1-F6EECF244321}">
                <p14:modId xmlns:p14="http://schemas.microsoft.com/office/powerpoint/2010/main" val="184378385"/>
              </p:ext>
            </p:extLst>
          </p:nvPr>
        </p:nvGraphicFramePr>
        <p:xfrm>
          <a:off x="612647" y="2286000"/>
          <a:ext cx="9580148" cy="2688337"/>
        </p:xfrm>
        <a:graphic>
          <a:graphicData uri="http://schemas.openxmlformats.org/drawingml/2006/table">
            <a:tbl>
              <a:tblPr firstRow="1" bandRow="1">
                <a:tableStyleId>{69012ECD-51FC-41F1-AA8D-1B2483CD663E}</a:tableStyleId>
              </a:tblPr>
              <a:tblGrid>
                <a:gridCol w="3108427">
                  <a:extLst>
                    <a:ext uri="{9D8B030D-6E8A-4147-A177-3AD203B41FA5}">
                      <a16:colId xmlns:a16="http://schemas.microsoft.com/office/drawing/2014/main" val="4146179147"/>
                    </a:ext>
                  </a:extLst>
                </a:gridCol>
                <a:gridCol w="6471721">
                  <a:extLst>
                    <a:ext uri="{9D8B030D-6E8A-4147-A177-3AD203B41FA5}">
                      <a16:colId xmlns:a16="http://schemas.microsoft.com/office/drawing/2014/main" val="3595746189"/>
                    </a:ext>
                  </a:extLst>
                </a:gridCol>
              </a:tblGrid>
              <a:tr h="510498">
                <a:tc>
                  <a:txBody>
                    <a:bodyPr/>
                    <a:lstStyle/>
                    <a:p>
                      <a:pPr>
                        <a:buNone/>
                      </a:pPr>
                      <a:r>
                        <a:rPr lang="en-US" sz="1600" b="1" cap="all" spc="150">
                          <a:solidFill>
                            <a:schemeClr val="tx1"/>
                          </a:solidFill>
                        </a:rPr>
                        <a:t>Visualization</a:t>
                      </a:r>
                    </a:p>
                  </a:txBody>
                  <a:tcPr marL="103551" marR="103551" marT="103551" marB="103551" anchor="ctr"/>
                </a:tc>
                <a:tc>
                  <a:txBody>
                    <a:bodyPr/>
                    <a:lstStyle/>
                    <a:p>
                      <a:pPr>
                        <a:buNone/>
                      </a:pPr>
                      <a:r>
                        <a:rPr lang="en-US" sz="1600" b="1" cap="all" spc="150">
                          <a:solidFill>
                            <a:schemeClr val="tx1"/>
                          </a:solidFill>
                        </a:rPr>
                        <a:t>Insight</a:t>
                      </a:r>
                      <a:endParaRPr lang="en-US" sz="1600" b="1" cap="all" spc="150" dirty="0">
                        <a:solidFill>
                          <a:schemeClr val="tx1"/>
                        </a:solidFill>
                      </a:endParaRPr>
                    </a:p>
                  </a:txBody>
                  <a:tcPr marL="103551" marR="103551" marT="103551" marB="103551" anchor="ctr"/>
                </a:tc>
                <a:extLst>
                  <a:ext uri="{0D108BD9-81ED-4DB2-BD59-A6C34878D82A}">
                    <a16:rowId xmlns:a16="http://schemas.microsoft.com/office/drawing/2014/main" val="1695966969"/>
                  </a:ext>
                </a:extLst>
              </a:tr>
              <a:tr h="487856">
                <a:tc>
                  <a:txBody>
                    <a:bodyPr/>
                    <a:lstStyle/>
                    <a:p>
                      <a:pPr>
                        <a:buNone/>
                      </a:pPr>
                      <a:r>
                        <a:rPr lang="en-US" sz="1500" b="1" cap="none" spc="0">
                          <a:solidFill>
                            <a:schemeClr val="tx1"/>
                          </a:solidFill>
                        </a:rPr>
                        <a:t>Top 10 Destination Countries</a:t>
                      </a:r>
                    </a:p>
                  </a:txBody>
                  <a:tcPr marL="103551" marR="103551" marT="103551" marB="103551" anchor="ctr"/>
                </a:tc>
                <a:tc>
                  <a:txBody>
                    <a:bodyPr/>
                    <a:lstStyle/>
                    <a:p>
                      <a:pPr>
                        <a:buNone/>
                      </a:pPr>
                      <a:r>
                        <a:rPr lang="en-US" sz="1500" cap="none" spc="0">
                          <a:solidFill>
                            <a:schemeClr val="tx1"/>
                          </a:solidFill>
                        </a:rPr>
                        <a:t>UAE leads with 540+ students; UK and Germany also popular.</a:t>
                      </a:r>
                    </a:p>
                  </a:txBody>
                  <a:tcPr marL="103551" marR="103551" marT="103551" marB="103551" anchor="ctr"/>
                </a:tc>
                <a:extLst>
                  <a:ext uri="{0D108BD9-81ED-4DB2-BD59-A6C34878D82A}">
                    <a16:rowId xmlns:a16="http://schemas.microsoft.com/office/drawing/2014/main" val="4176774820"/>
                  </a:ext>
                </a:extLst>
              </a:tr>
              <a:tr h="714271">
                <a:tc>
                  <a:txBody>
                    <a:bodyPr/>
                    <a:lstStyle/>
                    <a:p>
                      <a:pPr>
                        <a:buNone/>
                      </a:pPr>
                      <a:r>
                        <a:rPr lang="en-US" sz="1500" b="1" cap="none" spc="0">
                          <a:solidFill>
                            <a:schemeClr val="tx1"/>
                          </a:solidFill>
                        </a:rPr>
                        <a:t>Scholarship Distribution</a:t>
                      </a:r>
                    </a:p>
                  </a:txBody>
                  <a:tcPr marL="103551" marR="103551" marT="103551" marB="103551" anchor="ctr"/>
                </a:tc>
                <a:tc>
                  <a:txBody>
                    <a:bodyPr/>
                    <a:lstStyle/>
                    <a:p>
                      <a:pPr>
                        <a:buNone/>
                      </a:pPr>
                      <a:r>
                        <a:rPr lang="en-US" sz="1500" cap="none" spc="0">
                          <a:solidFill>
                            <a:schemeClr val="tx1"/>
                          </a:solidFill>
                        </a:rPr>
                        <a:t>Majority of students receive scholarships; UAE, UK, Germany highest rates.</a:t>
                      </a:r>
                    </a:p>
                  </a:txBody>
                  <a:tcPr marL="103551" marR="103551" marT="103551" marB="103551" anchor="ctr"/>
                </a:tc>
                <a:extLst>
                  <a:ext uri="{0D108BD9-81ED-4DB2-BD59-A6C34878D82A}">
                    <a16:rowId xmlns:a16="http://schemas.microsoft.com/office/drawing/2014/main" val="984471538"/>
                  </a:ext>
                </a:extLst>
              </a:tr>
              <a:tr h="487856">
                <a:tc>
                  <a:txBody>
                    <a:bodyPr/>
                    <a:lstStyle/>
                    <a:p>
                      <a:pPr>
                        <a:buNone/>
                      </a:pPr>
                      <a:r>
                        <a:rPr lang="en-US" sz="1500" b="1" cap="none" spc="0">
                          <a:solidFill>
                            <a:schemeClr val="tx1"/>
                          </a:solidFill>
                        </a:rPr>
                        <a:t>Placement Status by Field</a:t>
                      </a:r>
                    </a:p>
                  </a:txBody>
                  <a:tcPr marL="103551" marR="103551" marT="103551" marB="103551" anchor="ctr"/>
                </a:tc>
                <a:tc>
                  <a:txBody>
                    <a:bodyPr/>
                    <a:lstStyle/>
                    <a:p>
                      <a:pPr>
                        <a:buNone/>
                      </a:pPr>
                      <a:r>
                        <a:rPr lang="en-US" sz="1500" cap="none" spc="0">
                          <a:solidFill>
                            <a:schemeClr val="tx1"/>
                          </a:solidFill>
                        </a:rPr>
                        <a:t>Engineering shows highest placement; medicine and arts face challenges.</a:t>
                      </a:r>
                    </a:p>
                  </a:txBody>
                  <a:tcPr marL="103551" marR="103551" marT="103551" marB="103551" anchor="ctr"/>
                </a:tc>
                <a:extLst>
                  <a:ext uri="{0D108BD9-81ED-4DB2-BD59-A6C34878D82A}">
                    <a16:rowId xmlns:a16="http://schemas.microsoft.com/office/drawing/2014/main" val="3895211201"/>
                  </a:ext>
                </a:extLst>
              </a:tr>
              <a:tr h="487856">
                <a:tc>
                  <a:txBody>
                    <a:bodyPr/>
                    <a:lstStyle/>
                    <a:p>
                      <a:pPr>
                        <a:buNone/>
                      </a:pPr>
                      <a:r>
                        <a:rPr lang="en-US" sz="1500" b="1" cap="none" spc="0">
                          <a:solidFill>
                            <a:schemeClr val="tx1"/>
                          </a:solidFill>
                        </a:rPr>
                        <a:t>Average Starting Salary</a:t>
                      </a:r>
                    </a:p>
                  </a:txBody>
                  <a:tcPr marL="103551" marR="103551" marT="103551" marB="103551" anchor="ctr"/>
                </a:tc>
                <a:tc>
                  <a:txBody>
                    <a:bodyPr/>
                    <a:lstStyle/>
                    <a:p>
                      <a:pPr>
                        <a:buNone/>
                      </a:pPr>
                      <a:r>
                        <a:rPr lang="en-US" sz="1500" cap="none" spc="0" dirty="0">
                          <a:solidFill>
                            <a:schemeClr val="tx1"/>
                          </a:solidFill>
                        </a:rPr>
                        <a:t>Engineering graduates earn ~$48,000; other fields range $42,000–$45,000.</a:t>
                      </a:r>
                    </a:p>
                  </a:txBody>
                  <a:tcPr marL="103551" marR="103551" marT="103551" marB="103551" anchor="ctr"/>
                </a:tc>
                <a:extLst>
                  <a:ext uri="{0D108BD9-81ED-4DB2-BD59-A6C34878D82A}">
                    <a16:rowId xmlns:a16="http://schemas.microsoft.com/office/drawing/2014/main" val="2623890391"/>
                  </a:ext>
                </a:extLst>
              </a:tr>
            </a:tbl>
          </a:graphicData>
        </a:graphic>
      </p:graphicFrame>
    </p:spTree>
    <p:extLst>
      <p:ext uri="{BB962C8B-B14F-4D97-AF65-F5344CB8AC3E}">
        <p14:creationId xmlns:p14="http://schemas.microsoft.com/office/powerpoint/2010/main" val="1990760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2" name="Freeform: Shape 41">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4" name="Freeform: Shape 43">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itle 1">
            <a:extLst>
              <a:ext uri="{FF2B5EF4-FFF2-40B4-BE49-F238E27FC236}">
                <a16:creationId xmlns:a16="http://schemas.microsoft.com/office/drawing/2014/main" id="{CB372346-0060-DBDB-299C-C826BC4316D7}"/>
              </a:ext>
            </a:extLst>
          </p:cNvPr>
          <p:cNvSpPr>
            <a:spLocks noGrp="1"/>
          </p:cNvSpPr>
          <p:nvPr>
            <p:ph type="title"/>
          </p:nvPr>
        </p:nvSpPr>
        <p:spPr>
          <a:xfrm>
            <a:off x="371094" y="1161288"/>
            <a:ext cx="3438144" cy="1239012"/>
          </a:xfrm>
        </p:spPr>
        <p:txBody>
          <a:bodyPr anchor="ctr">
            <a:normAutofit/>
          </a:bodyPr>
          <a:lstStyle/>
          <a:p>
            <a:r>
              <a:rPr lang="en-US" sz="2800"/>
              <a:t>Top 10 Destination Countries</a:t>
            </a:r>
          </a:p>
        </p:txBody>
      </p:sp>
      <p:sp>
        <p:nvSpPr>
          <p:cNvPr id="46" name="Rectangle 4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8" name="Rectangle 4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Content Placeholder 1">
            <a:extLst>
              <a:ext uri="{FF2B5EF4-FFF2-40B4-BE49-F238E27FC236}">
                <a16:creationId xmlns:a16="http://schemas.microsoft.com/office/drawing/2014/main" id="{CE24E601-313A-831C-8490-B92BEC48576E}"/>
              </a:ext>
            </a:extLst>
          </p:cNvPr>
          <p:cNvSpPr>
            <a:spLocks noGrp="1" noChangeArrowheads="1"/>
          </p:cNvSpPr>
          <p:nvPr>
            <p:ph idx="1"/>
          </p:nvPr>
        </p:nvSpPr>
        <p:spPr bwMode="auto">
          <a:xfrm>
            <a:off x="371094" y="2718054"/>
            <a:ext cx="3438906" cy="32072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UAE leads with just over 540 students. </a:t>
            </a:r>
          </a:p>
          <a:p>
            <a:pPr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The UK and Germany follow, each with more than 520 students. </a:t>
            </a:r>
          </a:p>
          <a:p>
            <a:pPr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Ireland and Finland attract under 480 students, ranking lowest among the top 10. </a:t>
            </a:r>
          </a:p>
        </p:txBody>
      </p:sp>
      <p:pic>
        <p:nvPicPr>
          <p:cNvPr id="4" name="Content Placeholder 3" descr="A graph of blue vertical lines with black text&#10;&#10;AI-generated content may be incorrect.">
            <a:extLst>
              <a:ext uri="{FF2B5EF4-FFF2-40B4-BE49-F238E27FC236}">
                <a16:creationId xmlns:a16="http://schemas.microsoft.com/office/drawing/2014/main" id="{54C373C6-1A9A-9284-66C5-1173365C7173}"/>
              </a:ext>
            </a:extLst>
          </p:cNvPr>
          <p:cNvPicPr>
            <a:picLocks noChangeAspect="1"/>
          </p:cNvPicPr>
          <p:nvPr/>
        </p:nvPicPr>
        <p:blipFill>
          <a:blip r:embed="rId2">
            <a:extLst>
              <a:ext uri="{28A0092B-C50C-407E-A947-70E740481C1C}">
                <a14:useLocalDpi xmlns:a14="http://schemas.microsoft.com/office/drawing/2010/main" val="0"/>
              </a:ext>
            </a:extLst>
          </a:blip>
          <a:srcRect t="416" r="-1" b="4623"/>
          <a:stretch>
            <a:fillRect/>
          </a:stretch>
        </p:blipFill>
        <p:spPr bwMode="auto">
          <a:xfrm>
            <a:off x="4901184" y="1145826"/>
            <a:ext cx="6922008" cy="4666931"/>
          </a:xfrm>
          <a:prstGeom prst="rect">
            <a:avLst/>
          </a:prstGeom>
          <a:noFill/>
        </p:spPr>
      </p:pic>
    </p:spTree>
    <p:extLst>
      <p:ext uri="{BB962C8B-B14F-4D97-AF65-F5344CB8AC3E}">
        <p14:creationId xmlns:p14="http://schemas.microsoft.com/office/powerpoint/2010/main" val="2650544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Freeform: Shape 40">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3" name="Freeform: Shape 42">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itle 1">
            <a:extLst>
              <a:ext uri="{FF2B5EF4-FFF2-40B4-BE49-F238E27FC236}">
                <a16:creationId xmlns:a16="http://schemas.microsoft.com/office/drawing/2014/main" id="{DAAF8887-7EFD-C09C-5680-755C4BD84122}"/>
              </a:ext>
            </a:extLst>
          </p:cNvPr>
          <p:cNvSpPr>
            <a:spLocks noGrp="1"/>
          </p:cNvSpPr>
          <p:nvPr>
            <p:ph type="title"/>
          </p:nvPr>
        </p:nvSpPr>
        <p:spPr>
          <a:xfrm>
            <a:off x="371094" y="1161288"/>
            <a:ext cx="3438144" cy="1239012"/>
          </a:xfrm>
        </p:spPr>
        <p:txBody>
          <a:bodyPr anchor="ctr">
            <a:normAutofit/>
          </a:bodyPr>
          <a:lstStyle/>
          <a:p>
            <a:r>
              <a:rPr lang="en-US" sz="2600"/>
              <a:t>Scholarship Distribution by Destination Country</a:t>
            </a:r>
          </a:p>
        </p:txBody>
      </p:sp>
      <p:sp>
        <p:nvSpPr>
          <p:cNvPr id="45" name="Rectangle 44">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7" name="Rectangle 4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Content Placeholder 1">
            <a:extLst>
              <a:ext uri="{FF2B5EF4-FFF2-40B4-BE49-F238E27FC236}">
                <a16:creationId xmlns:a16="http://schemas.microsoft.com/office/drawing/2014/main" id="{7E6CB93A-8575-E454-CEDE-66F2787EC69E}"/>
              </a:ext>
            </a:extLst>
          </p:cNvPr>
          <p:cNvSpPr>
            <a:spLocks noGrp="1" noChangeArrowheads="1"/>
          </p:cNvSpPr>
          <p:nvPr>
            <p:ph idx="1"/>
          </p:nvPr>
        </p:nvSpPr>
        <p:spPr bwMode="auto">
          <a:xfrm>
            <a:off x="371094" y="2718054"/>
            <a:ext cx="3438906" cy="32072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600" b="0" i="0" u="none" strike="noStrike" cap="none" normalizeH="0" baseline="0">
              <a:ln>
                <a:noFill/>
              </a:ln>
              <a:effectLst/>
              <a:latin typeface="Arial" panose="020B0604020202020204" pitchFamily="34" charset="0"/>
            </a:endParaRPr>
          </a:p>
          <a:p>
            <a:pPr eaLnBrk="0" fontAlgn="base" hangingPunct="0">
              <a:spcBef>
                <a:spcPct val="0"/>
              </a:spcBef>
              <a:spcAft>
                <a:spcPts val="600"/>
              </a:spcAft>
            </a:pPr>
            <a:r>
              <a:rPr kumimoji="0" lang="en-US" altLang="en-US" sz="1600" b="0" i="0" u="none" strike="noStrike" cap="none" normalizeH="0" baseline="0">
                <a:ln>
                  <a:noFill/>
                </a:ln>
                <a:effectLst/>
                <a:latin typeface="Arial" panose="020B0604020202020204" pitchFamily="34" charset="0"/>
              </a:rPr>
              <a:t>In all the top 10 countries, most students receive scholarships (yellow bars are greater than purple bars). </a:t>
            </a:r>
          </a:p>
          <a:p>
            <a:pPr eaLnBrk="0" fontAlgn="base" hangingPunct="0">
              <a:spcBef>
                <a:spcPct val="0"/>
              </a:spcBef>
              <a:spcAft>
                <a:spcPts val="600"/>
              </a:spcAft>
            </a:pPr>
            <a:r>
              <a:rPr kumimoji="0" lang="en-US" altLang="en-US" sz="1600" b="0" i="0" u="none" strike="noStrike" cap="none" normalizeH="0" baseline="0">
                <a:ln>
                  <a:noFill/>
                </a:ln>
                <a:effectLst/>
                <a:latin typeface="Arial" panose="020B0604020202020204" pitchFamily="34" charset="0"/>
              </a:rPr>
              <a:t>The UAE, UK, and Germany offer the most scholarships and have the largest student populations. </a:t>
            </a:r>
          </a:p>
          <a:p>
            <a:pPr eaLnBrk="0" fontAlgn="base" hangingPunct="0">
              <a:spcBef>
                <a:spcPct val="0"/>
              </a:spcBef>
              <a:spcAft>
                <a:spcPts val="600"/>
              </a:spcAft>
            </a:pPr>
            <a:r>
              <a:rPr kumimoji="0" lang="en-US" altLang="en-US" sz="1600" b="0" i="0" u="none" strike="noStrike" cap="none" normalizeH="0" baseline="0">
                <a:ln>
                  <a:noFill/>
                </a:ln>
                <a:effectLst/>
                <a:latin typeface="Arial" panose="020B0604020202020204" pitchFamily="34" charset="0"/>
              </a:rPr>
              <a:t>Finland and Ireland have fewer scholarships and a smaller gap between recipients and non-recipients </a:t>
            </a:r>
          </a:p>
        </p:txBody>
      </p:sp>
      <p:pic>
        <p:nvPicPr>
          <p:cNvPr id="6" name="Content Placeholder 5" descr="A graph of a scholarship distribution&#10;&#10;AI-generated content may be incorrect.">
            <a:extLst>
              <a:ext uri="{FF2B5EF4-FFF2-40B4-BE49-F238E27FC236}">
                <a16:creationId xmlns:a16="http://schemas.microsoft.com/office/drawing/2014/main" id="{5CED936D-9EF1-BB0E-0E94-A253A2E7B274}"/>
              </a:ext>
            </a:extLst>
          </p:cNvPr>
          <p:cNvPicPr>
            <a:picLocks noChangeAspect="1"/>
          </p:cNvPicPr>
          <p:nvPr/>
        </p:nvPicPr>
        <p:blipFill>
          <a:blip r:embed="rId2">
            <a:extLst>
              <a:ext uri="{28A0092B-C50C-407E-A947-70E740481C1C}">
                <a14:useLocalDpi xmlns:a14="http://schemas.microsoft.com/office/drawing/2010/main" val="0"/>
              </a:ext>
            </a:extLst>
          </a:blip>
          <a:srcRect l="2389" r="-3" b="-3"/>
          <a:stretch>
            <a:fillRect/>
          </a:stretch>
        </p:blipFill>
        <p:spPr bwMode="auto">
          <a:xfrm>
            <a:off x="4901184" y="1351868"/>
            <a:ext cx="6922008" cy="4254848"/>
          </a:xfrm>
          <a:prstGeom prst="rect">
            <a:avLst/>
          </a:prstGeom>
          <a:noFill/>
        </p:spPr>
      </p:pic>
    </p:spTree>
    <p:extLst>
      <p:ext uri="{BB962C8B-B14F-4D97-AF65-F5344CB8AC3E}">
        <p14:creationId xmlns:p14="http://schemas.microsoft.com/office/powerpoint/2010/main" val="1248704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Freeform: Shape 38">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1" name="Freeform: Shape 40">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60EF46-B363-A2EA-447A-890BF0B57471}"/>
              </a:ext>
            </a:extLst>
          </p:cNvPr>
          <p:cNvSpPr>
            <a:spLocks noGrp="1"/>
          </p:cNvSpPr>
          <p:nvPr>
            <p:ph type="title"/>
          </p:nvPr>
        </p:nvSpPr>
        <p:spPr>
          <a:xfrm>
            <a:off x="371094" y="1161288"/>
            <a:ext cx="3438144" cy="1239012"/>
          </a:xfrm>
        </p:spPr>
        <p:txBody>
          <a:bodyPr anchor="ctr">
            <a:normAutofit/>
          </a:bodyPr>
          <a:lstStyle/>
          <a:p>
            <a:r>
              <a:rPr lang="en-US" sz="2800"/>
              <a:t>Placement Status by Field of Study</a:t>
            </a:r>
          </a:p>
        </p:txBody>
      </p:sp>
      <p:sp>
        <p:nvSpPr>
          <p:cNvPr id="43" name="Rectangle 42">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5" name="Rectangle 4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1">
            <a:extLst>
              <a:ext uri="{FF2B5EF4-FFF2-40B4-BE49-F238E27FC236}">
                <a16:creationId xmlns:a16="http://schemas.microsoft.com/office/drawing/2014/main" id="{48836752-94DC-F771-2C77-EC9E9A136C5D}"/>
              </a:ext>
            </a:extLst>
          </p:cNvPr>
          <p:cNvSpPr>
            <a:spLocks noGrp="1" noChangeArrowheads="1"/>
          </p:cNvSpPr>
          <p:nvPr>
            <p:ph idx="1"/>
          </p:nvPr>
        </p:nvSpPr>
        <p:spPr bwMode="auto">
          <a:xfrm>
            <a:off x="371094" y="2718054"/>
            <a:ext cx="3438906" cy="32072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Engineering shows the largest gap favoring placed students, indicating strong employability. </a:t>
            </a:r>
          </a:p>
          <a:p>
            <a:pPr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Medicine and Arts have more not placed than placed students, reflecting greater job placement challenges. </a:t>
            </a:r>
          </a:p>
          <a:p>
            <a:pPr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Both Medicine and Arts display nearly equal numbers of placed and not placed students, suggesting moderate placement success. </a:t>
            </a:r>
          </a:p>
        </p:txBody>
      </p:sp>
      <p:pic>
        <p:nvPicPr>
          <p:cNvPr id="4" name="Content Placeholder 3" descr="A graph of blue and orange bars&#10;&#10;AI-generated content may be incorrect.">
            <a:extLst>
              <a:ext uri="{FF2B5EF4-FFF2-40B4-BE49-F238E27FC236}">
                <a16:creationId xmlns:a16="http://schemas.microsoft.com/office/drawing/2014/main" id="{0A3ADC4A-0393-FEA7-08AE-FC6F11418403}"/>
              </a:ext>
            </a:extLst>
          </p:cNvPr>
          <p:cNvPicPr>
            <a:picLocks noChangeAspect="1"/>
          </p:cNvPicPr>
          <p:nvPr/>
        </p:nvPicPr>
        <p:blipFill>
          <a:blip r:embed="rId2">
            <a:extLst>
              <a:ext uri="{28A0092B-C50C-407E-A947-70E740481C1C}">
                <a14:useLocalDpi xmlns:a14="http://schemas.microsoft.com/office/drawing/2010/main" val="0"/>
              </a:ext>
            </a:extLst>
          </a:blip>
          <a:srcRect l="3278" r="3282" b="2"/>
          <a:stretch>
            <a:fillRect/>
          </a:stretch>
        </p:blipFill>
        <p:spPr bwMode="auto">
          <a:xfrm>
            <a:off x="4901184" y="1145828"/>
            <a:ext cx="6922008" cy="4666927"/>
          </a:xfrm>
          <a:prstGeom prst="rect">
            <a:avLst/>
          </a:prstGeom>
          <a:noFill/>
        </p:spPr>
      </p:pic>
    </p:spTree>
    <p:extLst>
      <p:ext uri="{BB962C8B-B14F-4D97-AF65-F5344CB8AC3E}">
        <p14:creationId xmlns:p14="http://schemas.microsoft.com/office/powerpoint/2010/main" val="4012990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Freeform: Shape 31">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4" name="Freeform: Shape 33">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0359773-D319-0BBB-8E7E-17E1A9A5BF7B}"/>
              </a:ext>
            </a:extLst>
          </p:cNvPr>
          <p:cNvSpPr>
            <a:spLocks noGrp="1"/>
          </p:cNvSpPr>
          <p:nvPr>
            <p:ph type="title"/>
          </p:nvPr>
        </p:nvSpPr>
        <p:spPr>
          <a:xfrm>
            <a:off x="371094" y="1161288"/>
            <a:ext cx="3438144" cy="1239012"/>
          </a:xfrm>
        </p:spPr>
        <p:txBody>
          <a:bodyPr anchor="ctr">
            <a:normAutofit/>
          </a:bodyPr>
          <a:lstStyle/>
          <a:p>
            <a:r>
              <a:rPr lang="en-US" sz="2600"/>
              <a:t>Average Starting Salary by Destination Country</a:t>
            </a:r>
          </a:p>
        </p:txBody>
      </p:sp>
      <p:sp>
        <p:nvSpPr>
          <p:cNvPr id="36" name="Rectangle 3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8" name="Rectangle 3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07617E89-E281-948E-55CA-EAEE0AA783E6}"/>
              </a:ext>
            </a:extLst>
          </p:cNvPr>
          <p:cNvSpPr>
            <a:spLocks noGrp="1"/>
          </p:cNvSpPr>
          <p:nvPr>
            <p:ph idx="1"/>
          </p:nvPr>
        </p:nvSpPr>
        <p:spPr>
          <a:xfrm>
            <a:off x="371094" y="2718054"/>
            <a:ext cx="3438906" cy="3207258"/>
          </a:xfrm>
        </p:spPr>
        <p:txBody>
          <a:bodyPr anchor="t">
            <a:normAutofit/>
          </a:bodyPr>
          <a:lstStyle/>
          <a:p>
            <a:pPr lvl="0"/>
            <a:r>
              <a:rPr lang="en-US" sz="1600"/>
              <a:t>Engineering graduates have the highest average salary at about $48,000, surpassing other fields.</a:t>
            </a:r>
          </a:p>
          <a:p>
            <a:pPr lvl="0"/>
            <a:r>
              <a:rPr lang="en-US" sz="1600"/>
              <a:t>Both technical and non-technical disciplines offer promising salaries around $45,000. </a:t>
            </a:r>
          </a:p>
          <a:p>
            <a:pPr lvl="0"/>
            <a:r>
              <a:rPr lang="en-US" sz="1600"/>
              <a:t>Meanwhile, fields with the lowest starting salaries range from $42,000 to $43, indicating limited earning potential compared to technical and legal fields.</a:t>
            </a:r>
          </a:p>
        </p:txBody>
      </p:sp>
      <p:pic>
        <p:nvPicPr>
          <p:cNvPr id="5" name="Content Placeholder 4" descr="A graph of a number of rows of colored bars&#10;&#10;AI-generated content may be incorrect.">
            <a:extLst>
              <a:ext uri="{FF2B5EF4-FFF2-40B4-BE49-F238E27FC236}">
                <a16:creationId xmlns:a16="http://schemas.microsoft.com/office/drawing/2014/main" id="{054BA8A1-DE4C-B949-CF75-5DC3CF04962E}"/>
              </a:ext>
            </a:extLst>
          </p:cNvPr>
          <p:cNvPicPr>
            <a:picLocks noChangeAspect="1"/>
          </p:cNvPicPr>
          <p:nvPr/>
        </p:nvPicPr>
        <p:blipFill>
          <a:blip r:embed="rId2">
            <a:extLst>
              <a:ext uri="{28A0092B-C50C-407E-A947-70E740481C1C}">
                <a14:useLocalDpi xmlns:a14="http://schemas.microsoft.com/office/drawing/2010/main" val="0"/>
              </a:ext>
            </a:extLst>
          </a:blip>
          <a:srcRect l="8203" r="3173" b="-2"/>
          <a:stretch>
            <a:fillRect/>
          </a:stretch>
        </p:blipFill>
        <p:spPr bwMode="auto">
          <a:xfrm>
            <a:off x="4901184" y="1145849"/>
            <a:ext cx="6922008" cy="4666885"/>
          </a:xfrm>
          <a:prstGeom prst="rect">
            <a:avLst/>
          </a:prstGeom>
          <a:noFill/>
        </p:spPr>
      </p:pic>
    </p:spTree>
    <p:extLst>
      <p:ext uri="{BB962C8B-B14F-4D97-AF65-F5344CB8AC3E}">
        <p14:creationId xmlns:p14="http://schemas.microsoft.com/office/powerpoint/2010/main" val="50384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0100-E375-7495-B0B8-9725E1016978}"/>
              </a:ext>
            </a:extLst>
          </p:cNvPr>
          <p:cNvSpPr>
            <a:spLocks noGrp="1"/>
          </p:cNvSpPr>
          <p:nvPr>
            <p:ph type="ctrTitle"/>
          </p:nvPr>
        </p:nvSpPr>
        <p:spPr>
          <a:xfrm>
            <a:off x="992091" y="2514602"/>
            <a:ext cx="6812280" cy="3194302"/>
          </a:xfrm>
        </p:spPr>
        <p:txBody>
          <a:bodyPr anchor="b">
            <a:normAutofit/>
          </a:bodyPr>
          <a:lstStyle/>
          <a:p>
            <a:r>
              <a:rPr lang="en-US"/>
              <a:t>Models and Results</a:t>
            </a:r>
          </a:p>
        </p:txBody>
      </p:sp>
    </p:spTree>
    <p:extLst>
      <p:ext uri="{BB962C8B-B14F-4D97-AF65-F5344CB8AC3E}">
        <p14:creationId xmlns:p14="http://schemas.microsoft.com/office/powerpoint/2010/main" val="21178737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4BC45E-35D4-6DC2-2B4F-3B3D4DDEDEF4}"/>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5400"/>
              <a:t>Models Used</a:t>
            </a:r>
          </a:p>
        </p:txBody>
      </p:sp>
      <p:sp>
        <p:nvSpPr>
          <p:cNvPr id="1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B11E25B1-73FE-32E9-7904-685C27C8A7A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872899"/>
            <a:ext cx="4243589" cy="3320668"/>
          </a:xfrm>
        </p:spPr>
        <p:txBody>
          <a:bodyPr>
            <a:normAutofit/>
          </a:bodyPr>
          <a:lstStyle/>
          <a:p>
            <a:pPr marL="0" indent="0">
              <a:spcBef>
                <a:spcPts val="2500"/>
              </a:spcBef>
              <a:buFont typeface="Arial" panose="020B0604020202020204" pitchFamily="34" charset="0"/>
              <a:buNone/>
            </a:pPr>
            <a:r>
              <a:rPr lang="en-US" sz="1400" b="1"/>
              <a:t>Predictive Modeling Techniques</a:t>
            </a:r>
          </a:p>
          <a:p>
            <a:pPr marL="0" lvl="1" indent="0">
              <a:buFont typeface="Arial" panose="020B0604020202020204" pitchFamily="34" charset="0"/>
              <a:buNone/>
            </a:pPr>
            <a:r>
              <a:rPr lang="en-US" sz="1400"/>
              <a:t>Three key models were used: Ridge Regression for linear baseline, Random Forest for complex interactions, and XGBoost for high performance.</a:t>
            </a:r>
          </a:p>
          <a:p>
            <a:pPr marL="0" indent="0">
              <a:spcBef>
                <a:spcPts val="2500"/>
              </a:spcBef>
              <a:buFont typeface="Arial" panose="020B0604020202020204" pitchFamily="34" charset="0"/>
              <a:buNone/>
            </a:pPr>
            <a:r>
              <a:rPr lang="en-US" sz="1400" b="1"/>
              <a:t>Model Evaluation Metrics</a:t>
            </a:r>
          </a:p>
          <a:p>
            <a:pPr marL="0" lvl="1" indent="0">
              <a:buFont typeface="Arial" panose="020B0604020202020204" pitchFamily="34" charset="0"/>
              <a:buNone/>
            </a:pPr>
            <a:r>
              <a:rPr lang="en-US" sz="1400"/>
              <a:t>Models were evaluated using MAE, RMSE, and MAPE to measure prediction accuracy and error rates.</a:t>
            </a:r>
          </a:p>
          <a:p>
            <a:pPr marL="0" indent="0">
              <a:spcBef>
                <a:spcPts val="2500"/>
              </a:spcBef>
              <a:buFont typeface="Arial" panose="020B0604020202020204" pitchFamily="34" charset="0"/>
              <a:buNone/>
            </a:pPr>
            <a:r>
              <a:rPr lang="en-US" sz="1400" b="1"/>
              <a:t>Chronological Data Splitting</a:t>
            </a:r>
          </a:p>
          <a:p>
            <a:pPr marL="0" lvl="1" indent="0">
              <a:buFont typeface="Arial" panose="020B0604020202020204" pitchFamily="34" charset="0"/>
              <a:buNone/>
            </a:pPr>
            <a:r>
              <a:rPr lang="en-US" sz="1400"/>
              <a:t>Chronological splitting was applied to simulate real-world forecasting by training on historical data and testing on future data.</a:t>
            </a:r>
          </a:p>
        </p:txBody>
      </p:sp>
      <p:pic>
        <p:nvPicPr>
          <p:cNvPr id="5" name="Content Placeholder 4">
            <a:extLst>
              <a:ext uri="{FF2B5EF4-FFF2-40B4-BE49-F238E27FC236}">
                <a16:creationId xmlns:a16="http://schemas.microsoft.com/office/drawing/2014/main" id="{2DCE2BFD-32EC-4A0C-8025-A48E6477FA04}"/>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6524" r="16523"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p:spPr>
      </p:pic>
    </p:spTree>
    <p:extLst>
      <p:ext uri="{BB962C8B-B14F-4D97-AF65-F5344CB8AC3E}">
        <p14:creationId xmlns:p14="http://schemas.microsoft.com/office/powerpoint/2010/main" val="1025196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C98D6B-D3D1-73E1-3033-1BC2AFA639B5}"/>
              </a:ext>
            </a:extLst>
          </p:cNvPr>
          <p:cNvSpPr>
            <a:spLocks noGrp="1"/>
          </p:cNvSpPr>
          <p:nvPr>
            <p:ph type="title"/>
          </p:nvPr>
        </p:nvSpPr>
        <p:spPr>
          <a:xfrm>
            <a:off x="1115568" y="548640"/>
            <a:ext cx="10168128" cy="1179576"/>
          </a:xfrm>
        </p:spPr>
        <p:txBody>
          <a:bodyPr>
            <a:normAutofit/>
          </a:bodyPr>
          <a:lstStyle/>
          <a:p>
            <a:r>
              <a:rPr lang="en-US" sz="4000"/>
              <a:t>Model Results</a:t>
            </a:r>
          </a:p>
        </p:txBody>
      </p:sp>
      <p:sp>
        <p:nvSpPr>
          <p:cNvPr id="16" name="Rectangle 15">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4">
            <a:extLst>
              <a:ext uri="{FF2B5EF4-FFF2-40B4-BE49-F238E27FC236}">
                <a16:creationId xmlns:a16="http://schemas.microsoft.com/office/drawing/2014/main" id="{C7E0C513-F71F-4612-8F05-C246FC001B0F}"/>
              </a:ext>
            </a:extLst>
          </p:cNvPr>
          <p:cNvGraphicFramePr>
            <a:graphicFrameLocks noGrp="1"/>
          </p:cNvGraphicFramePr>
          <p:nvPr>
            <p:ph idx="1"/>
            <p:extLst>
              <p:ext uri="{D42A27DB-BD31-4B8C-83A1-F6EECF244321}">
                <p14:modId xmlns:p14="http://schemas.microsoft.com/office/powerpoint/2010/main" val="1998161179"/>
              </p:ext>
            </p:extLst>
          </p:nvPr>
        </p:nvGraphicFramePr>
        <p:xfrm>
          <a:off x="1115568" y="2414458"/>
          <a:ext cx="10168130" cy="3704457"/>
        </p:xfrm>
        <a:graphic>
          <a:graphicData uri="http://schemas.openxmlformats.org/drawingml/2006/table">
            <a:tbl>
              <a:tblPr firstRow="1" bandRow="1">
                <a:noFill/>
                <a:tableStyleId>{5C22544A-7EE6-4342-B048-85BDC9FD1C3A}</a:tableStyleId>
              </a:tblPr>
              <a:tblGrid>
                <a:gridCol w="3625982">
                  <a:extLst>
                    <a:ext uri="{9D8B030D-6E8A-4147-A177-3AD203B41FA5}">
                      <a16:colId xmlns:a16="http://schemas.microsoft.com/office/drawing/2014/main" val="277709299"/>
                    </a:ext>
                  </a:extLst>
                </a:gridCol>
                <a:gridCol w="1992830">
                  <a:extLst>
                    <a:ext uri="{9D8B030D-6E8A-4147-A177-3AD203B41FA5}">
                      <a16:colId xmlns:a16="http://schemas.microsoft.com/office/drawing/2014/main" val="4267296167"/>
                    </a:ext>
                  </a:extLst>
                </a:gridCol>
                <a:gridCol w="2274659">
                  <a:extLst>
                    <a:ext uri="{9D8B030D-6E8A-4147-A177-3AD203B41FA5}">
                      <a16:colId xmlns:a16="http://schemas.microsoft.com/office/drawing/2014/main" val="765532075"/>
                    </a:ext>
                  </a:extLst>
                </a:gridCol>
                <a:gridCol w="2274659">
                  <a:extLst>
                    <a:ext uri="{9D8B030D-6E8A-4147-A177-3AD203B41FA5}">
                      <a16:colId xmlns:a16="http://schemas.microsoft.com/office/drawing/2014/main" val="653362522"/>
                    </a:ext>
                  </a:extLst>
                </a:gridCol>
              </a:tblGrid>
              <a:tr h="570819">
                <a:tc>
                  <a:txBody>
                    <a:bodyPr/>
                    <a:lstStyle/>
                    <a:p>
                      <a:pPr>
                        <a:buNone/>
                      </a:pPr>
                      <a:r>
                        <a:rPr lang="en-US" sz="1700" b="1" cap="all" spc="150">
                          <a:solidFill>
                            <a:schemeClr val="tx1"/>
                          </a:solidFill>
                        </a:rPr>
                        <a:t>Model</a:t>
                      </a:r>
                    </a:p>
                  </a:txBody>
                  <a:tcPr marL="143412" marR="143412" marT="143412" marB="143412"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700" b="1" cap="all" spc="150">
                          <a:solidFill>
                            <a:schemeClr val="tx1"/>
                          </a:solidFill>
                        </a:rPr>
                        <a:t>MAE</a:t>
                      </a:r>
                    </a:p>
                  </a:txBody>
                  <a:tcPr marL="143412" marR="143412" marT="143412" marB="143412"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700" b="1" cap="all" spc="150">
                          <a:solidFill>
                            <a:schemeClr val="tx1"/>
                          </a:solidFill>
                        </a:rPr>
                        <a:t>RMSE</a:t>
                      </a:r>
                    </a:p>
                  </a:txBody>
                  <a:tcPr marL="143412" marR="143412" marT="143412" marB="143412"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700" b="1" cap="all" spc="150">
                          <a:solidFill>
                            <a:schemeClr val="tx1"/>
                          </a:solidFill>
                        </a:rPr>
                        <a:t>MAPE</a:t>
                      </a:r>
                    </a:p>
                  </a:txBody>
                  <a:tcPr marL="143412" marR="143412" marT="143412" marB="143412"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4029048786"/>
                  </a:ext>
                </a:extLst>
              </a:tr>
              <a:tr h="522273">
                <a:tc>
                  <a:txBody>
                    <a:bodyPr/>
                    <a:lstStyle/>
                    <a:p>
                      <a:pPr>
                        <a:buNone/>
                      </a:pPr>
                      <a:r>
                        <a:rPr lang="en-US" sz="1400" b="1" cap="none" spc="0">
                          <a:solidFill>
                            <a:schemeClr val="tx1"/>
                          </a:solidFill>
                        </a:rPr>
                        <a:t>Ridge Regression (≤2019)</a:t>
                      </a:r>
                    </a:p>
                  </a:txBody>
                  <a:tcPr marL="143412" marR="143412" marT="143412" marB="143412"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2.65</a:t>
                      </a:r>
                    </a:p>
                  </a:txBody>
                  <a:tcPr marL="143412" marR="143412" marT="143412" marB="143412"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3.37</a:t>
                      </a:r>
                    </a:p>
                  </a:txBody>
                  <a:tcPr marL="143412" marR="143412" marT="143412" marB="143412"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30.08%</a:t>
                      </a:r>
                    </a:p>
                  </a:txBody>
                  <a:tcPr marL="143412" marR="143412" marT="143412" marB="143412"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488213336"/>
                  </a:ext>
                </a:extLst>
              </a:tr>
              <a:tr h="522273">
                <a:tc>
                  <a:txBody>
                    <a:bodyPr/>
                    <a:lstStyle/>
                    <a:p>
                      <a:pPr>
                        <a:buNone/>
                      </a:pPr>
                      <a:r>
                        <a:rPr lang="en-US" sz="1400" b="1" cap="none" spc="0">
                          <a:solidFill>
                            <a:schemeClr val="tx1"/>
                          </a:solidFill>
                        </a:rPr>
                        <a:t>Random Forest (≤2019)</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2.61</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3.32</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29.72%</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298199196"/>
                  </a:ext>
                </a:extLst>
              </a:tr>
              <a:tr h="522273">
                <a:tc>
                  <a:txBody>
                    <a:bodyPr/>
                    <a:lstStyle/>
                    <a:p>
                      <a:pPr>
                        <a:buNone/>
                      </a:pPr>
                      <a:r>
                        <a:rPr lang="en-US" sz="1400" b="1" cap="none" spc="0">
                          <a:solidFill>
                            <a:schemeClr val="tx1"/>
                          </a:solidFill>
                        </a:rPr>
                        <a:t>XGBoost (≤2019)</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2.68</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3.39</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29.75%</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047994459"/>
                  </a:ext>
                </a:extLst>
              </a:tr>
              <a:tr h="522273">
                <a:tc>
                  <a:txBody>
                    <a:bodyPr/>
                    <a:lstStyle/>
                    <a:p>
                      <a:pPr>
                        <a:buNone/>
                      </a:pPr>
                      <a:r>
                        <a:rPr lang="en-US" sz="1400" b="1" cap="none" spc="0">
                          <a:solidFill>
                            <a:schemeClr val="tx1"/>
                          </a:solidFill>
                        </a:rPr>
                        <a:t>Ridge Regression (≤2020)</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2.60</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3.27</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27.09%</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902188179"/>
                  </a:ext>
                </a:extLst>
              </a:tr>
              <a:tr h="522273">
                <a:tc>
                  <a:txBody>
                    <a:bodyPr/>
                    <a:lstStyle/>
                    <a:p>
                      <a:pPr>
                        <a:buNone/>
                      </a:pPr>
                      <a:r>
                        <a:rPr lang="en-US" sz="1400" b="1" cap="none" spc="0">
                          <a:solidFill>
                            <a:schemeClr val="tx1"/>
                          </a:solidFill>
                        </a:rPr>
                        <a:t>Random Forest (≤2020)</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2.53</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3.21</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27.22%</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817329488"/>
                  </a:ext>
                </a:extLst>
              </a:tr>
              <a:tr h="522273">
                <a:tc>
                  <a:txBody>
                    <a:bodyPr/>
                    <a:lstStyle/>
                    <a:p>
                      <a:pPr>
                        <a:buNone/>
                      </a:pPr>
                      <a:r>
                        <a:rPr lang="en-US" sz="1400" b="1" cap="none" spc="0">
                          <a:solidFill>
                            <a:schemeClr val="tx1"/>
                          </a:solidFill>
                        </a:rPr>
                        <a:t>XGBoost (≤2020)</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400" cap="none" spc="0">
                          <a:solidFill>
                            <a:schemeClr val="tx1"/>
                          </a:solidFill>
                        </a:rPr>
                        <a:t>2.70</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400" cap="none" spc="0">
                          <a:solidFill>
                            <a:schemeClr val="tx1"/>
                          </a:solidFill>
                        </a:rPr>
                        <a:t>3.40</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400" cap="none" spc="0">
                          <a:solidFill>
                            <a:schemeClr val="tx1"/>
                          </a:solidFill>
                        </a:rPr>
                        <a:t>27.68%</a:t>
                      </a:r>
                    </a:p>
                  </a:txBody>
                  <a:tcPr marL="143412" marR="143412" marT="143412" marB="143412"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902330650"/>
                  </a:ext>
                </a:extLst>
              </a:tr>
            </a:tbl>
          </a:graphicData>
        </a:graphic>
      </p:graphicFrame>
    </p:spTree>
    <p:extLst>
      <p:ext uri="{BB962C8B-B14F-4D97-AF65-F5344CB8AC3E}">
        <p14:creationId xmlns:p14="http://schemas.microsoft.com/office/powerpoint/2010/main" val="130060188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8E68F-7538-DE10-0DF3-0C2EBCDEA24C}"/>
              </a:ext>
            </a:extLst>
          </p:cNvPr>
          <p:cNvSpPr>
            <a:spLocks noGrp="1"/>
          </p:cNvSpPr>
          <p:nvPr>
            <p:ph type="ctrTitle"/>
          </p:nvPr>
        </p:nvSpPr>
        <p:spPr>
          <a:xfrm>
            <a:off x="992091" y="2514602"/>
            <a:ext cx="6812280" cy="3194302"/>
          </a:xfrm>
        </p:spPr>
        <p:txBody>
          <a:bodyPr anchor="b">
            <a:normAutofit/>
          </a:bodyPr>
          <a:lstStyle/>
          <a:p>
            <a:r>
              <a:rPr lang="en-US"/>
              <a:t>Conclusion</a:t>
            </a:r>
          </a:p>
        </p:txBody>
      </p:sp>
    </p:spTree>
    <p:extLst>
      <p:ext uri="{BB962C8B-B14F-4D97-AF65-F5344CB8AC3E}">
        <p14:creationId xmlns:p14="http://schemas.microsoft.com/office/powerpoint/2010/main" val="20651294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589F8E-6149-CF0E-B833-C504FF98AE2D}"/>
              </a:ext>
            </a:extLst>
          </p:cNvPr>
          <p:cNvSpPr>
            <a:spLocks noGrp="1"/>
          </p:cNvSpPr>
          <p:nvPr>
            <p:ph type="title"/>
          </p:nvPr>
        </p:nvSpPr>
        <p:spPr>
          <a:xfrm>
            <a:off x="572493" y="238539"/>
            <a:ext cx="11018520" cy="1434415"/>
          </a:xfrm>
        </p:spPr>
        <p:txBody>
          <a:bodyPr vert="horz" lIns="91440" tIns="45720" rIns="91440" bIns="45720" rtlCol="0" anchor="b">
            <a:normAutofit/>
          </a:bodyPr>
          <a:lstStyle/>
          <a:p>
            <a:pPr>
              <a:lnSpc>
                <a:spcPct val="90000"/>
              </a:lnSpc>
            </a:pPr>
            <a:r>
              <a:rPr lang="en-US" sz="5400"/>
              <a:t>Key Takeaways and Recommendations</a:t>
            </a:r>
          </a:p>
        </p:txBody>
      </p:sp>
      <p:sp>
        <p:nvSpPr>
          <p:cNvPr id="19"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ADFF4870-878C-44C5-4D6C-755E46776FF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a:t>Model Performance</a:t>
            </a:r>
          </a:p>
          <a:p>
            <a:pPr marL="0" lvl="1" indent="0">
              <a:buFont typeface="Arial" panose="020B0604020202020204" pitchFamily="34" charset="0"/>
              <a:buNone/>
            </a:pPr>
            <a:r>
              <a:rPr lang="en-US" sz="1400"/>
              <a:t>Tree-based models like Random Forest and XGBoost capture nonlinear interactions better than linear models in student migration forecasting.</a:t>
            </a:r>
          </a:p>
          <a:p>
            <a:pPr marL="0" indent="0">
              <a:spcBef>
                <a:spcPts val="2500"/>
              </a:spcBef>
              <a:buFont typeface="Arial" panose="020B0604020202020204" pitchFamily="34" charset="0"/>
              <a:buNone/>
            </a:pPr>
            <a:r>
              <a:rPr lang="en-US" sz="1400" b="1"/>
              <a:t>Key Predictors</a:t>
            </a:r>
          </a:p>
          <a:p>
            <a:pPr marL="0" lvl="1" indent="0">
              <a:buFont typeface="Arial" panose="020B0604020202020204" pitchFamily="34" charset="0"/>
              <a:buNone/>
            </a:pPr>
            <a:r>
              <a:rPr lang="en-US" sz="1400"/>
              <a:t>Scholarships and placement opportunities are the most influential factors, with academic metrics also playing a significant role.</a:t>
            </a:r>
          </a:p>
          <a:p>
            <a:pPr marL="0" indent="0">
              <a:spcBef>
                <a:spcPts val="2500"/>
              </a:spcBef>
              <a:buFont typeface="Arial" panose="020B0604020202020204" pitchFamily="34" charset="0"/>
              <a:buNone/>
            </a:pPr>
            <a:r>
              <a:rPr lang="en-US" sz="1400" b="1"/>
              <a:t>Pandemic Data Impact</a:t>
            </a:r>
          </a:p>
          <a:p>
            <a:pPr marL="0" lvl="1" indent="0">
              <a:buFont typeface="Arial" panose="020B0604020202020204" pitchFamily="34" charset="0"/>
              <a:buNone/>
            </a:pPr>
            <a:r>
              <a:rPr lang="en-US" sz="1400"/>
              <a:t>Incorporating pandemic-era data improved forecasting robustness and accuracy, highlighting adaptable strategy needs.</a:t>
            </a:r>
          </a:p>
          <a:p>
            <a:pPr marL="0" indent="0">
              <a:spcBef>
                <a:spcPts val="2500"/>
              </a:spcBef>
              <a:buFont typeface="Arial" panose="020B0604020202020204" pitchFamily="34" charset="0"/>
              <a:buNone/>
            </a:pPr>
            <a:r>
              <a:rPr lang="en-US" sz="1400" b="1"/>
              <a:t>Strategic Recommendations</a:t>
            </a:r>
          </a:p>
          <a:p>
            <a:pPr marL="0" lvl="1" indent="0">
              <a:buFont typeface="Arial" panose="020B0604020202020204" pitchFamily="34" charset="0"/>
              <a:buNone/>
            </a:pPr>
            <a:r>
              <a:rPr lang="en-US" sz="1400"/>
              <a:t>Enhance scholarships, support employment pathways, leverage analytics, consider visa reforms, and focus on competitive regions.</a:t>
            </a:r>
          </a:p>
        </p:txBody>
      </p:sp>
      <p:pic>
        <p:nvPicPr>
          <p:cNvPr id="5" name="Content Placeholder 4" descr="Global learn internet e-learning webinar concept">
            <a:extLst>
              <a:ext uri="{FF2B5EF4-FFF2-40B4-BE49-F238E27FC236}">
                <a16:creationId xmlns:a16="http://schemas.microsoft.com/office/drawing/2014/main" id="{8FB05BC6-3F68-4428-935E-DDE8BF489473}"/>
              </a:ext>
            </a:extLst>
          </p:cNvPr>
          <p:cNvPicPr>
            <a:picLocks noGrp="1" noChangeAspect="1"/>
          </p:cNvPicPr>
          <p:nvPr>
            <p:ph type="pic" sz="quarter" idx="18"/>
          </p:nvPr>
        </p:nvPicPr>
        <p:blipFill>
          <a:blip r:embed="rId3"/>
          <a:srcRect l="580" r="3212" b="-3"/>
          <a:stretch>
            <a:fillRect/>
          </a:stretch>
        </p:blipFill>
        <p:spPr>
          <a:xfrm>
            <a:off x="7675658" y="2093976"/>
            <a:ext cx="3941064" cy="4096512"/>
          </a:xfrm>
          <a:prstGeom prst="rect">
            <a:avLst/>
          </a:prstGeom>
          <a:noFill/>
        </p:spPr>
      </p:pic>
    </p:spTree>
    <p:extLst>
      <p:ext uri="{BB962C8B-B14F-4D97-AF65-F5344CB8AC3E}">
        <p14:creationId xmlns:p14="http://schemas.microsoft.com/office/powerpoint/2010/main" val="42723301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461</TotalTime>
  <Words>1750</Words>
  <Application>Microsoft Office PowerPoint</Application>
  <PresentationFormat>Widescreen</PresentationFormat>
  <Paragraphs>129</Paragraphs>
  <Slides>16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Global Student Migration – Predictive Analytics</vt:lpstr>
      <vt:lpstr>Introduction and Data Overview</vt:lpstr>
      <vt:lpstr>Introduction</vt:lpstr>
      <vt:lpstr>Data Used</vt:lpstr>
      <vt:lpstr>Data Preparation and Visualization</vt:lpstr>
      <vt:lpstr>Data Preparation</vt:lpstr>
      <vt:lpstr>Visualizations</vt:lpstr>
      <vt:lpstr>Top 10 Destination Countries</vt:lpstr>
      <vt:lpstr>Scholarship Distribution by Destination Country</vt:lpstr>
      <vt:lpstr>Placement Status by Field of Study</vt:lpstr>
      <vt:lpstr>Average Starting Salary by Destination Country</vt:lpstr>
      <vt:lpstr>Models and Results</vt:lpstr>
      <vt:lpstr>Models Used</vt:lpstr>
      <vt:lpstr>Model Results</vt:lpstr>
      <vt:lpstr>Conclusion</vt:lpstr>
      <vt:lpstr>Key Takeaways and Recommendations</vt:lpstr>
    </vt:vector>
  </TitlesOfParts>
  <Company>Tyson Foods,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Suriyamurthy, Subash</dc:creator>
  <cp:lastModifiedBy>Suriyamurthy, Subash</cp:lastModifiedBy>
  <cp:revision>19</cp:revision>
  <dcterms:created xsi:type="dcterms:W3CDTF">2025-11-22T14:55:45Z</dcterms:created>
  <dcterms:modified xsi:type="dcterms:W3CDTF">2025-11-23T20:03:34Z</dcterms:modified>
</cp:coreProperties>
</file>