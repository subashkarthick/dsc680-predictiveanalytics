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ational Childcare Prices" id="{0AFE5C56-B172-46BD-BFD6-A286D2D007C9}">
          <p14:sldIdLst>
            <p14:sldId id="2561"/>
          </p14:sldIdLst>
        </p14:section>
        <p14:section name="Introduction and Data Overview" id="{07CF7EF6-EABC-4B9A-8E77-B1CD2E42128E}">
          <p14:sldIdLst>
            <p14:sldId id="2562"/>
            <p14:sldId id="2563"/>
            <p14:sldId id="2564"/>
          </p14:sldIdLst>
        </p14:section>
        <p14:section name="Childcare Price Visualizations" id="{552DD679-F2F3-4C46-BF33-5EDE7991E43C}">
          <p14:sldIdLst>
            <p14:sldId id="2565"/>
            <p14:sldId id="2566"/>
            <p14:sldId id="2567"/>
            <p14:sldId id="2568"/>
            <p14:sldId id="2569"/>
          </p14:sldIdLst>
        </p14:section>
        <p14:section name="Geospatial Analysis" id="{4A2B6630-FE33-40DD-9A71-466187ACCFFD}">
          <p14:sldIdLst>
            <p14:sldId id="2570"/>
            <p14:sldId id="2571"/>
            <p14:sldId id="2572"/>
          </p14:sldIdLst>
        </p14:section>
        <p14:section name="Findings and Conclusion" id="{22F87BC1-1F75-407E-AC3A-2D7EB6B076D2}">
          <p14:sldIdLst>
            <p14:sldId id="2573"/>
            <p14:sldId id="2574"/>
            <p14:sldId id="2575"/>
          </p14:sldIdLst>
        </p14:section>
      </p14:sectionLst>
    </p:ex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CD130-8B82-4553-A9BD-33B62F4AAB05}" v="17" dt="2025-11-23T13:28:29.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100" d="100"/>
          <a:sy n="100" d="100"/>
        </p:scale>
        <p:origin x="-77" y="-499"/>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FF9519-D25D-4954-BADD-6E830336DE51}" type="datetimeFigureOut">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F79B0-66EF-47BE-9283-FD47551211B3}" type="slidenum">
              <a:t>‹#›</a:t>
            </a:fld>
            <a:endParaRPr lang="en-US"/>
          </a:p>
        </p:txBody>
      </p:sp>
    </p:spTree>
    <p:extLst>
      <p:ext uri="{BB962C8B-B14F-4D97-AF65-F5344CB8AC3E}">
        <p14:creationId xmlns:p14="http://schemas.microsoft.com/office/powerpoint/2010/main" val="3474219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82A8044-BC2E-411D-8A8C-4F1A16C1533C}" type="slidenum">
              <a:t>1</a:t>
            </a:fld>
            <a:endParaRPr lang="en-US"/>
          </a:p>
        </p:txBody>
      </p:sp>
    </p:spTree>
    <p:extLst>
      <p:ext uri="{BB962C8B-B14F-4D97-AF65-F5344CB8AC3E}">
        <p14:creationId xmlns:p14="http://schemas.microsoft.com/office/powerpoint/2010/main" val="3854492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Introduction, Data Exploration
</a:t>
            </a:r>
          </a:p>
        </p:txBody>
      </p:sp>
      <p:sp>
        <p:nvSpPr>
          <p:cNvPr id="4" name="Slide Number Placeholder 3"/>
          <p:cNvSpPr>
            <a:spLocks noGrp="1"/>
          </p:cNvSpPr>
          <p:nvPr>
            <p:ph type="sldNum" sz="quarter" idx="5"/>
          </p:nvPr>
        </p:nvSpPr>
        <p:spPr/>
        <p:txBody>
          <a:bodyPr/>
          <a:lstStyle/>
          <a:p>
            <a:fld id="{582A8044-BC2E-411D-8A8C-4F1A16C1533C}" type="slidenum">
              <a:t>2</a:t>
            </a:fld>
            <a:endParaRPr lang="en-US"/>
          </a:p>
        </p:txBody>
      </p:sp>
    </p:spTree>
    <p:extLst>
      <p:ext uri="{BB962C8B-B14F-4D97-AF65-F5344CB8AC3E}">
        <p14:creationId xmlns:p14="http://schemas.microsoft.com/office/powerpoint/2010/main" val="4001814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This project focuses on analyzing the National Database of Childcare Prices to understand how childcare costs vary across the United States. The dataset provides county-level information from 2008 to 2018, including state and county identifiers, year of observation, and childcare price metrics for different provider types such as center-based and family childcare. The analysis aims to identify patterns, regional disparities, and temporal trends in childcare costs. By leveraging descriptive statistics and visualizations, the study highlights affordability challenges and informs policymakers, economists, and advocacy groups. The ultimate goal is to provide actionable insights into childcare pricing structures and their implications for family well-being and economic policy.
</a:t>
            </a:r>
          </a:p>
        </p:txBody>
      </p:sp>
      <p:sp>
        <p:nvSpPr>
          <p:cNvPr id="4" name="Slide Number Placeholder 3"/>
          <p:cNvSpPr>
            <a:spLocks noGrp="1"/>
          </p:cNvSpPr>
          <p:nvPr>
            <p:ph type="sldNum" sz="quarter" idx="5"/>
          </p:nvPr>
        </p:nvSpPr>
        <p:spPr/>
        <p:txBody>
          <a:bodyPr/>
          <a:lstStyle/>
          <a:p>
            <a:fld id="{582A8044-BC2E-411D-8A8C-4F1A16C1533C}" type="slidenum">
              <a:t>3</a:t>
            </a:fld>
            <a:endParaRPr lang="en-US"/>
          </a:p>
        </p:txBody>
      </p:sp>
    </p:spTree>
    <p:extLst>
      <p:ext uri="{BB962C8B-B14F-4D97-AF65-F5344CB8AC3E}">
        <p14:creationId xmlns:p14="http://schemas.microsoft.com/office/powerpoint/2010/main" val="867137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The dataset consists of 34,567 rows and 227 columns, representing county-year combinations across the U.S. Key variables include State_Name, State_Abbreviation, County_Name, and various childcare cost metrics for different age groups and provider types. The data types comprise 159 float columns, 65 integer columns, and 3 object columns. While identifiers are complete and consistent, some childcare cost fields exhibit partial missingness, requiring selective filtering and cleaning. Descriptive statistics reveal significant variation in childcare prices, with center-based preschool costs ranging from $40 to over $330 and infant care often exceeding $500 in certain regions. These findings informed subsequent visualizations and analyses.
</a:t>
            </a:r>
          </a:p>
        </p:txBody>
      </p:sp>
      <p:sp>
        <p:nvSpPr>
          <p:cNvPr id="4" name="Slide Number Placeholder 3"/>
          <p:cNvSpPr>
            <a:spLocks noGrp="1"/>
          </p:cNvSpPr>
          <p:nvPr>
            <p:ph type="sldNum" sz="quarter" idx="5"/>
          </p:nvPr>
        </p:nvSpPr>
        <p:spPr/>
        <p:txBody>
          <a:bodyPr/>
          <a:lstStyle/>
          <a:p>
            <a:fld id="{582A8044-BC2E-411D-8A8C-4F1A16C1533C}" type="slidenum">
              <a:t>4</a:t>
            </a:fld>
            <a:endParaRPr lang="en-US"/>
          </a:p>
        </p:txBody>
      </p:sp>
    </p:spTree>
    <p:extLst>
      <p:ext uri="{BB962C8B-B14F-4D97-AF65-F5344CB8AC3E}">
        <p14:creationId xmlns:p14="http://schemas.microsoft.com/office/powerpoint/2010/main" val="2387382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Price Distribution, Regional Variation, Median Prices by Age and Provider Type, Price Trends Over Time
</a:t>
            </a:r>
          </a:p>
        </p:txBody>
      </p:sp>
      <p:sp>
        <p:nvSpPr>
          <p:cNvPr id="4" name="Slide Number Placeholder 3"/>
          <p:cNvSpPr>
            <a:spLocks noGrp="1"/>
          </p:cNvSpPr>
          <p:nvPr>
            <p:ph type="sldNum" sz="quarter" idx="5"/>
          </p:nvPr>
        </p:nvSpPr>
        <p:spPr/>
        <p:txBody>
          <a:bodyPr/>
          <a:lstStyle/>
          <a:p>
            <a:fld id="{582A8044-BC2E-411D-8A8C-4F1A16C1533C}" type="slidenum">
              <a:t>5</a:t>
            </a:fld>
            <a:endParaRPr lang="en-US"/>
          </a:p>
        </p:txBody>
      </p:sp>
    </p:spTree>
    <p:extLst>
      <p:ext uri="{BB962C8B-B14F-4D97-AF65-F5344CB8AC3E}">
        <p14:creationId xmlns:p14="http://schemas.microsoft.com/office/powerpoint/2010/main" val="3649263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The distribution of childcare prices is right-skewed, with most values clustered between $95 and $110 and a tapering tail extending beyond $250. Most counties fall within the $70 to $150 range, while a smaller number exceed $200, indicating substantial variability across regions. This skewness suggests that median and interquartile range (IQR) are more reliable measures than the mean for comparative analysis. Understanding this distribution is critical for identifying affordability challenges and designing policies that address cost disparities.
</a:t>
            </a:r>
          </a:p>
        </p:txBody>
      </p:sp>
      <p:sp>
        <p:nvSpPr>
          <p:cNvPr id="4" name="Slide Number Placeholder 3"/>
          <p:cNvSpPr>
            <a:spLocks noGrp="1"/>
          </p:cNvSpPr>
          <p:nvPr>
            <p:ph type="sldNum" sz="quarter" idx="5"/>
          </p:nvPr>
        </p:nvSpPr>
        <p:spPr/>
        <p:txBody>
          <a:bodyPr/>
          <a:lstStyle/>
          <a:p>
            <a:fld id="{582A8044-BC2E-411D-8A8C-4F1A16C1533C}" type="slidenum">
              <a:t>6</a:t>
            </a:fld>
            <a:endParaRPr lang="en-US"/>
          </a:p>
        </p:txBody>
      </p:sp>
    </p:spTree>
    <p:extLst>
      <p:ext uri="{BB962C8B-B14F-4D97-AF65-F5344CB8AC3E}">
        <p14:creationId xmlns:p14="http://schemas.microsoft.com/office/powerpoint/2010/main" val="3931159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Regional analysis reveals that the highest childcare costs are concentrated in the District of Columbia, Rhode Island, Connecticut, and Massachusetts, followed by Hawaii, New York, California, Washington, and Alaska. These states share similar cost levels, ranging from mid-$170K to low-$230K annually, reflecting urbanization, coastal characteristics, and supply constraints. Affordability challenges are most pronounced in urban hubs and remote regions, emphasizing the need for cost-of-living adjustments and targeted policy interventions.
</a:t>
            </a:r>
          </a:p>
        </p:txBody>
      </p:sp>
      <p:sp>
        <p:nvSpPr>
          <p:cNvPr id="4" name="Slide Number Placeholder 3"/>
          <p:cNvSpPr>
            <a:spLocks noGrp="1"/>
          </p:cNvSpPr>
          <p:nvPr>
            <p:ph type="sldNum" sz="quarter" idx="5"/>
          </p:nvPr>
        </p:nvSpPr>
        <p:spPr/>
        <p:txBody>
          <a:bodyPr/>
          <a:lstStyle/>
          <a:p>
            <a:fld id="{582A8044-BC2E-411D-8A8C-4F1A16C1533C}" type="slidenum">
              <a:t>7</a:t>
            </a:fld>
            <a:endParaRPr lang="en-US"/>
          </a:p>
        </p:txBody>
      </p:sp>
    </p:spTree>
    <p:extLst>
      <p:ext uri="{BB962C8B-B14F-4D97-AF65-F5344CB8AC3E}">
        <p14:creationId xmlns:p14="http://schemas.microsoft.com/office/powerpoint/2010/main" val="305088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Median childcare prices vary significantly by age group and provider type. Center-based care is consistently more expensive than family childcare across all age categories. Infant care incurs the highest costs, while preschool care is the least expensive. Prices decrease with age for both provider types, with family childcare for preschoolers being the most affordable option. These trends highlight the financial burden on families with younger children and the importance of age-specific policy measures.
</a:t>
            </a:r>
          </a:p>
        </p:txBody>
      </p:sp>
      <p:sp>
        <p:nvSpPr>
          <p:cNvPr id="4" name="Slide Number Placeholder 3"/>
          <p:cNvSpPr>
            <a:spLocks noGrp="1"/>
          </p:cNvSpPr>
          <p:nvPr>
            <p:ph type="sldNum" sz="quarter" idx="5"/>
          </p:nvPr>
        </p:nvSpPr>
        <p:spPr/>
        <p:txBody>
          <a:bodyPr/>
          <a:lstStyle/>
          <a:p>
            <a:fld id="{582A8044-BC2E-411D-8A8C-4F1A16C1533C}" type="slidenum">
              <a:t>8</a:t>
            </a:fld>
            <a:endParaRPr lang="en-US"/>
          </a:p>
        </p:txBody>
      </p:sp>
    </p:spTree>
    <p:extLst>
      <p:ext uri="{BB962C8B-B14F-4D97-AF65-F5344CB8AC3E}">
        <p14:creationId xmlns:p14="http://schemas.microsoft.com/office/powerpoint/2010/main" val="410566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From 2008 to 2018, median childcare prices exhibited a gradual upward trend, indicating a steady increase in costs nationwide. Occasional spikes or drops may correspond to policy changes, economic events, or shifts in provider rates. Periods of stability suggest temporary market equilibrium or reduced inflationary pressure. These temporal patterns underscore the need for continuous monitoring and adaptive strategies to maintain affordability.
</a:t>
            </a:r>
          </a:p>
        </p:txBody>
      </p:sp>
      <p:sp>
        <p:nvSpPr>
          <p:cNvPr id="4" name="Slide Number Placeholder 3"/>
          <p:cNvSpPr>
            <a:spLocks noGrp="1"/>
          </p:cNvSpPr>
          <p:nvPr>
            <p:ph type="sldNum" sz="quarter" idx="5"/>
          </p:nvPr>
        </p:nvSpPr>
        <p:spPr/>
        <p:txBody>
          <a:bodyPr/>
          <a:lstStyle/>
          <a:p>
            <a:fld id="{582A8044-BC2E-411D-8A8C-4F1A16C1533C}" type="slidenum">
              <a:t>9</a:t>
            </a:fld>
            <a:endParaRPr lang="en-US"/>
          </a:p>
        </p:txBody>
      </p:sp>
    </p:spTree>
    <p:extLst>
      <p:ext uri="{BB962C8B-B14F-4D97-AF65-F5344CB8AC3E}">
        <p14:creationId xmlns:p14="http://schemas.microsoft.com/office/powerpoint/2010/main" val="1246858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Heatmap of Median Prices by State and Year, Choropleth Map of U.S. States
</a:t>
            </a:r>
          </a:p>
        </p:txBody>
      </p:sp>
      <p:sp>
        <p:nvSpPr>
          <p:cNvPr id="4" name="Slide Number Placeholder 3"/>
          <p:cNvSpPr>
            <a:spLocks noGrp="1"/>
          </p:cNvSpPr>
          <p:nvPr>
            <p:ph type="sldNum" sz="quarter" idx="5"/>
          </p:nvPr>
        </p:nvSpPr>
        <p:spPr/>
        <p:txBody>
          <a:bodyPr/>
          <a:lstStyle/>
          <a:p>
            <a:fld id="{582A8044-BC2E-411D-8A8C-4F1A16C1533C}" type="slidenum">
              <a:t>10</a:t>
            </a:fld>
            <a:endParaRPr lang="en-US"/>
          </a:p>
        </p:txBody>
      </p:sp>
    </p:spTree>
    <p:extLst>
      <p:ext uri="{BB962C8B-B14F-4D97-AF65-F5344CB8AC3E}">
        <p14:creationId xmlns:p14="http://schemas.microsoft.com/office/powerpoint/2010/main" val="112956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The heatmap visualization illustrates median childcare prices across states and years, revealing persistent high-cost regions such as the Northeast and coastal states. Lighter colors represent lower-cost states, typically rural or less densely populated areas. Temporal changes in color intensity indicate evolving affordability patterns, while outliers may reflect policy interventions or reporting anomalies. These insights are crucial for regional benchmarking and targeted policy development.
</a:t>
            </a:r>
          </a:p>
        </p:txBody>
      </p:sp>
      <p:sp>
        <p:nvSpPr>
          <p:cNvPr id="4" name="Slide Number Placeholder 3"/>
          <p:cNvSpPr>
            <a:spLocks noGrp="1"/>
          </p:cNvSpPr>
          <p:nvPr>
            <p:ph type="sldNum" sz="quarter" idx="5"/>
          </p:nvPr>
        </p:nvSpPr>
        <p:spPr/>
        <p:txBody>
          <a:bodyPr/>
          <a:lstStyle/>
          <a:p>
            <a:fld id="{582A8044-BC2E-411D-8A8C-4F1A16C1533C}" type="slidenum">
              <a:t>11</a:t>
            </a:fld>
            <a:endParaRPr lang="en-US"/>
          </a:p>
        </p:txBody>
      </p:sp>
    </p:spTree>
    <p:extLst>
      <p:ext uri="{BB962C8B-B14F-4D97-AF65-F5344CB8AC3E}">
        <p14:creationId xmlns:p14="http://schemas.microsoft.com/office/powerpoint/2010/main" val="1057810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The choropleth map highlights geographic disparities in childcare costs. Northeast states such as Massachusetts, Maryland, Connecticut, and New York exhibit the highest costs, often exceeding $40K annually. Moderate-cost states include California, Hawaii, New Jersey, and Colorado, while the South and Midwest generally offer more affordable childcare options, with costs below $25K. These patterns reflect broader socioeconomic and demographic factors influencing childcare pricing.
</a:t>
            </a:r>
          </a:p>
        </p:txBody>
      </p:sp>
      <p:sp>
        <p:nvSpPr>
          <p:cNvPr id="4" name="Slide Number Placeholder 3"/>
          <p:cNvSpPr>
            <a:spLocks noGrp="1"/>
          </p:cNvSpPr>
          <p:nvPr>
            <p:ph type="sldNum" sz="quarter" idx="5"/>
          </p:nvPr>
        </p:nvSpPr>
        <p:spPr/>
        <p:txBody>
          <a:bodyPr/>
          <a:lstStyle/>
          <a:p>
            <a:fld id="{582A8044-BC2E-411D-8A8C-4F1A16C1533C}" type="slidenum">
              <a:t>12</a:t>
            </a:fld>
            <a:endParaRPr lang="en-US"/>
          </a:p>
        </p:txBody>
      </p:sp>
    </p:spTree>
    <p:extLst>
      <p:ext uri="{BB962C8B-B14F-4D97-AF65-F5344CB8AC3E}">
        <p14:creationId xmlns:p14="http://schemas.microsoft.com/office/powerpoint/2010/main" val="2792342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Key Findings, Conclusion and Implications
</a:t>
            </a:r>
          </a:p>
        </p:txBody>
      </p:sp>
      <p:sp>
        <p:nvSpPr>
          <p:cNvPr id="4" name="Slide Number Placeholder 3"/>
          <p:cNvSpPr>
            <a:spLocks noGrp="1"/>
          </p:cNvSpPr>
          <p:nvPr>
            <p:ph type="sldNum" sz="quarter" idx="5"/>
          </p:nvPr>
        </p:nvSpPr>
        <p:spPr/>
        <p:txBody>
          <a:bodyPr/>
          <a:lstStyle/>
          <a:p>
            <a:fld id="{582A8044-BC2E-411D-8A8C-4F1A16C1533C}" type="slidenum">
              <a:t>13</a:t>
            </a:fld>
            <a:endParaRPr lang="en-US"/>
          </a:p>
        </p:txBody>
      </p:sp>
    </p:spTree>
    <p:extLst>
      <p:ext uri="{BB962C8B-B14F-4D97-AF65-F5344CB8AC3E}">
        <p14:creationId xmlns:p14="http://schemas.microsoft.com/office/powerpoint/2010/main" val="3276650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Childcare costs vary significantly across regions, with the Northeast and coastal areas consistently ranking as the most expensive. Infant care is the costliest among all age groups, and center-based providers generally charge more than family childcare homes. From 2008 to 2018, childcare prices increased steadily, reflecting economic pressures and rising demand. These findings underscore the importance of affordability-focused policies and interventions.
</a:t>
            </a:r>
          </a:p>
        </p:txBody>
      </p:sp>
      <p:sp>
        <p:nvSpPr>
          <p:cNvPr id="4" name="Slide Number Placeholder 3"/>
          <p:cNvSpPr>
            <a:spLocks noGrp="1"/>
          </p:cNvSpPr>
          <p:nvPr>
            <p:ph type="sldNum" sz="quarter" idx="5"/>
          </p:nvPr>
        </p:nvSpPr>
        <p:spPr/>
        <p:txBody>
          <a:bodyPr/>
          <a:lstStyle/>
          <a:p>
            <a:fld id="{582A8044-BC2E-411D-8A8C-4F1A16C1533C}" type="slidenum">
              <a:t>14</a:t>
            </a:fld>
            <a:endParaRPr lang="en-US"/>
          </a:p>
        </p:txBody>
      </p:sp>
    </p:spTree>
    <p:extLst>
      <p:ext uri="{BB962C8B-B14F-4D97-AF65-F5344CB8AC3E}">
        <p14:creationId xmlns:p14="http://schemas.microsoft.com/office/powerpoint/2010/main" val="853507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https://tysononline-my.sharepoint.com/personal/subashkarthick_suriyamurthy_tyson_com/_layouts/15/Doc.aspx?sourcedoc=%7B9AC1BE2B-1556-4CCB-9942-1C9F6613823D%7D&amp;file=DSC640_SubashKarthick_TermProject-Milestonet5.docx&amp;action=default&amp;mobileredirect=true
The analysis of the National Database of Childcare Prices provides critical insights into cost structures and regional disparities. Policymakers should prioritize scholarship programs, cost-of-living adjustments, and targeted subsidies to alleviate financial burdens on families. Economists and advocacy groups can leverage these findings to design equitable childcare systems. Future research should incorporate socioeconomic indicators and predictive modeling to enhance affordability assessments and policy effectiveness.
</a:t>
            </a:r>
          </a:p>
        </p:txBody>
      </p:sp>
      <p:sp>
        <p:nvSpPr>
          <p:cNvPr id="4" name="Slide Number Placeholder 3"/>
          <p:cNvSpPr>
            <a:spLocks noGrp="1"/>
          </p:cNvSpPr>
          <p:nvPr>
            <p:ph type="sldNum" sz="quarter" idx="5"/>
          </p:nvPr>
        </p:nvSpPr>
        <p:spPr/>
        <p:txBody>
          <a:bodyPr/>
          <a:lstStyle/>
          <a:p>
            <a:fld id="{582A8044-BC2E-411D-8A8C-4F1A16C1533C}" type="slidenum">
              <a:t>15</a:t>
            </a:fld>
            <a:endParaRPr lang="en-US"/>
          </a:p>
        </p:txBody>
      </p:sp>
    </p:spTree>
    <p:extLst>
      <p:ext uri="{BB962C8B-B14F-4D97-AF65-F5344CB8AC3E}">
        <p14:creationId xmlns:p14="http://schemas.microsoft.com/office/powerpoint/2010/main" val="2894126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11/23/2025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11/23/2025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11/23/2025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11/23/2025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11/23/2025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11/23/2025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11/23/2025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11/23/2025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11/23/2025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11/23/2025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11/23/2025</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11/23/2025</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11/23/2025</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11/23/2025</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11/23/2025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11/23/2025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11/23/2025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11/23/2025</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CFBC-C8B1-9EDB-D1B5-382CFE9B7397}"/>
              </a:ext>
            </a:extLst>
          </p:cNvPr>
          <p:cNvSpPr>
            <a:spLocks noGrp="1"/>
          </p:cNvSpPr>
          <p:nvPr>
            <p:ph type="ctrTitle"/>
          </p:nvPr>
        </p:nvSpPr>
        <p:spPr>
          <a:xfrm>
            <a:off x="512064" y="1528603"/>
            <a:ext cx="7681513" cy="2849386"/>
          </a:xfrm>
        </p:spPr>
        <p:txBody>
          <a:bodyPr anchor="b">
            <a:normAutofit/>
          </a:bodyPr>
          <a:lstStyle/>
          <a:p>
            <a:r>
              <a:rPr lang="en-US"/>
              <a:t>National Childcare Prices</a:t>
            </a:r>
          </a:p>
        </p:txBody>
      </p:sp>
      <p:sp>
        <p:nvSpPr>
          <p:cNvPr id="3" name="Subtitle 2">
            <a:extLst>
              <a:ext uri="{FF2B5EF4-FFF2-40B4-BE49-F238E27FC236}">
                <a16:creationId xmlns:a16="http://schemas.microsoft.com/office/drawing/2014/main" id="{9A1E0981-4BD6-C483-EB2B-B89C39435064}"/>
              </a:ext>
            </a:extLst>
          </p:cNvPr>
          <p:cNvSpPr>
            <a:spLocks noGrp="1"/>
          </p:cNvSpPr>
          <p:nvPr>
            <p:ph type="subTitle" idx="1"/>
          </p:nvPr>
        </p:nvSpPr>
        <p:spPr>
          <a:xfrm>
            <a:off x="512064" y="5029200"/>
            <a:ext cx="7630450" cy="1037063"/>
          </a:xfrm>
        </p:spPr>
        <p:txBody>
          <a:bodyPr>
            <a:normAutofit/>
          </a:bodyPr>
          <a:lstStyle/>
          <a:p>
            <a:r>
              <a:rPr lang="en-US"/>
              <a:t>Overview of childcare costs across the country</a:t>
            </a:r>
          </a:p>
        </p:txBody>
      </p:sp>
    </p:spTree>
    <p:extLst>
      <p:ext uri="{BB962C8B-B14F-4D97-AF65-F5344CB8AC3E}">
        <p14:creationId xmlns:p14="http://schemas.microsoft.com/office/powerpoint/2010/main" val="326450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41A4-C0E6-E2A7-D392-686033EC98EA}"/>
              </a:ext>
            </a:extLst>
          </p:cNvPr>
          <p:cNvSpPr>
            <a:spLocks noGrp="1"/>
          </p:cNvSpPr>
          <p:nvPr>
            <p:ph type="title"/>
          </p:nvPr>
        </p:nvSpPr>
        <p:spPr>
          <a:xfrm>
            <a:off x="2388871" y="1707549"/>
            <a:ext cx="7258050" cy="2826351"/>
          </a:xfrm>
        </p:spPr>
        <p:txBody>
          <a:bodyPr anchor="ctr">
            <a:normAutofit/>
          </a:bodyPr>
          <a:lstStyle/>
          <a:p>
            <a:r>
              <a:rPr lang="en-US"/>
              <a:t>Introduction and Data Overview</a:t>
            </a:r>
          </a:p>
        </p:txBody>
      </p:sp>
    </p:spTree>
    <p:extLst>
      <p:ext uri="{BB962C8B-B14F-4D97-AF65-F5344CB8AC3E}">
        <p14:creationId xmlns:p14="http://schemas.microsoft.com/office/powerpoint/2010/main" val="4866940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6398-E422-1DDF-D704-3F7A2C2CF540}"/>
              </a:ext>
            </a:extLst>
          </p:cNvPr>
          <p:cNvSpPr>
            <a:spLocks noGrp="1"/>
          </p:cNvSpPr>
          <p:nvPr>
            <p:ph type="title"/>
          </p:nvPr>
        </p:nvSpPr>
        <p:spPr>
          <a:xfrm>
            <a:off x="7168548" y="448056"/>
            <a:ext cx="4560733" cy="1554480"/>
          </a:xfrm>
        </p:spPr>
        <p:txBody>
          <a:bodyPr anchor="b">
            <a:normAutofit/>
          </a:bodyPr>
          <a:lstStyle/>
          <a:p>
            <a:r>
              <a:rPr lang="en-US"/>
              <a:t>Introduction</a:t>
            </a:r>
          </a:p>
        </p:txBody>
      </p:sp>
      <p:pic>
        <p:nvPicPr>
          <p:cNvPr id="5" name="Content Placeholder 4" descr="US map vintage concept image. Digitally created image. ">
            <a:extLst>
              <a:ext uri="{FF2B5EF4-FFF2-40B4-BE49-F238E27FC236}">
                <a16:creationId xmlns:a16="http://schemas.microsoft.com/office/drawing/2014/main" id="{7844E5D2-247C-41E5-8546-ABADFA76AAF3}"/>
              </a:ext>
            </a:extLst>
          </p:cNvPr>
          <p:cNvPicPr>
            <a:picLocks noGrp="1" noChangeAspect="1"/>
          </p:cNvPicPr>
          <p:nvPr>
            <p:ph type="pic" idx="1"/>
          </p:nvPr>
        </p:nvPicPr>
        <p:blipFill>
          <a:blip r:embed="rId3"/>
          <a:srcRect l="15814" r="20773"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00041D6B-166F-F639-96C5-6F904424A49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300" b="1"/>
              <a:t>Dataset Overview</a:t>
            </a:r>
          </a:p>
          <a:p>
            <a:pPr marL="0" lvl="1" indent="0">
              <a:lnSpc>
                <a:spcPct val="120000"/>
              </a:lnSpc>
              <a:buFont typeface="Arial" panose="020B0604020202020204" pitchFamily="34" charset="0"/>
              <a:buNone/>
            </a:pPr>
            <a:r>
              <a:rPr lang="en-US" sz="1300"/>
              <a:t>The analysis uses county-level data from 2008 to 2018 covering childcare prices across the United States.</a:t>
            </a:r>
          </a:p>
          <a:p>
            <a:pPr marL="0" indent="0">
              <a:lnSpc>
                <a:spcPct val="120000"/>
              </a:lnSpc>
              <a:spcBef>
                <a:spcPts val="2500"/>
              </a:spcBef>
              <a:buFont typeface="Arial" panose="020B0604020202020204" pitchFamily="34" charset="0"/>
              <a:buNone/>
            </a:pPr>
            <a:r>
              <a:rPr lang="en-US" sz="1300" b="1"/>
              <a:t>Analysis Objectives</a:t>
            </a:r>
          </a:p>
          <a:p>
            <a:pPr marL="0" lvl="1" indent="0">
              <a:lnSpc>
                <a:spcPct val="120000"/>
              </a:lnSpc>
              <a:buFont typeface="Arial" panose="020B0604020202020204" pitchFamily="34" charset="0"/>
              <a:buNone/>
            </a:pPr>
            <a:r>
              <a:rPr lang="en-US" sz="1300"/>
              <a:t>The study identifies patterns, regional disparities, and temporal trends in childcare costs to inform stakeholders.</a:t>
            </a:r>
          </a:p>
          <a:p>
            <a:pPr marL="0" indent="0">
              <a:lnSpc>
                <a:spcPct val="120000"/>
              </a:lnSpc>
              <a:spcBef>
                <a:spcPts val="2500"/>
              </a:spcBef>
              <a:buFont typeface="Arial" panose="020B0604020202020204" pitchFamily="34" charset="0"/>
              <a:buNone/>
            </a:pPr>
            <a:r>
              <a:rPr lang="en-US" sz="1300" b="1"/>
              <a:t>Policy Implications</a:t>
            </a:r>
          </a:p>
          <a:p>
            <a:pPr marL="0" lvl="1" indent="0">
              <a:lnSpc>
                <a:spcPct val="120000"/>
              </a:lnSpc>
              <a:buFont typeface="Arial" panose="020B0604020202020204" pitchFamily="34" charset="0"/>
              <a:buNone/>
            </a:pPr>
            <a:r>
              <a:rPr lang="en-US" sz="1300"/>
              <a:t>Insights aim to assist policymakers, economists, and advocacy groups in addressing affordability and economic challenges.</a:t>
            </a:r>
          </a:p>
        </p:txBody>
      </p:sp>
    </p:spTree>
    <p:extLst>
      <p:ext uri="{BB962C8B-B14F-4D97-AF65-F5344CB8AC3E}">
        <p14:creationId xmlns:p14="http://schemas.microsoft.com/office/powerpoint/2010/main" val="1687251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43DB-E0A6-02F4-FA89-97C392DAF0FB}"/>
              </a:ext>
            </a:extLst>
          </p:cNvPr>
          <p:cNvSpPr>
            <a:spLocks noGrp="1"/>
          </p:cNvSpPr>
          <p:nvPr>
            <p:ph type="title"/>
          </p:nvPr>
        </p:nvSpPr>
        <p:spPr>
          <a:xfrm>
            <a:off x="7168548" y="448056"/>
            <a:ext cx="4560733" cy="1554480"/>
          </a:xfrm>
        </p:spPr>
        <p:txBody>
          <a:bodyPr anchor="b">
            <a:normAutofit/>
          </a:bodyPr>
          <a:lstStyle/>
          <a:p>
            <a:r>
              <a:rPr lang="en-US"/>
              <a:t>Data Exploration</a:t>
            </a:r>
          </a:p>
        </p:txBody>
      </p:sp>
      <p:pic>
        <p:nvPicPr>
          <p:cNvPr id="5" name="Content Placeholder 4" descr="numerals and finance">
            <a:extLst>
              <a:ext uri="{FF2B5EF4-FFF2-40B4-BE49-F238E27FC236}">
                <a16:creationId xmlns:a16="http://schemas.microsoft.com/office/drawing/2014/main" id="{E176113D-71FF-485A-97C7-AEB06753DAD6}"/>
              </a:ext>
            </a:extLst>
          </p:cNvPr>
          <p:cNvPicPr>
            <a:picLocks noGrp="1" noChangeAspect="1"/>
          </p:cNvPicPr>
          <p:nvPr>
            <p:ph type="pic" idx="1"/>
          </p:nvPr>
        </p:nvPicPr>
        <p:blipFill>
          <a:blip r:embed="rId3"/>
          <a:srcRect l="3514" r="33073"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94FB67FE-2BC2-96C6-4897-534A75161DC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200" b="1"/>
              <a:t>Dataset Composition</a:t>
            </a:r>
          </a:p>
          <a:p>
            <a:pPr marL="0" lvl="1" indent="0">
              <a:lnSpc>
                <a:spcPct val="120000"/>
              </a:lnSpc>
              <a:buFont typeface="Arial" panose="020B0604020202020204" pitchFamily="34" charset="0"/>
              <a:buNone/>
            </a:pPr>
            <a:r>
              <a:rPr lang="en-US" sz="1200"/>
              <a:t>The dataset contains 34,567 rows and 227 columns covering U.S. county-year data with key identifiers and childcare metrics.</a:t>
            </a:r>
          </a:p>
          <a:p>
            <a:pPr marL="0" indent="0">
              <a:lnSpc>
                <a:spcPct val="120000"/>
              </a:lnSpc>
              <a:spcBef>
                <a:spcPts val="2500"/>
              </a:spcBef>
              <a:buFont typeface="Arial" panose="020B0604020202020204" pitchFamily="34" charset="0"/>
              <a:buNone/>
            </a:pPr>
            <a:r>
              <a:rPr lang="en-US" sz="1200" b="1"/>
              <a:t>Data Completeness and Cleaning</a:t>
            </a:r>
          </a:p>
          <a:p>
            <a:pPr marL="0" lvl="1" indent="0">
              <a:lnSpc>
                <a:spcPct val="120000"/>
              </a:lnSpc>
              <a:buFont typeface="Arial" panose="020B0604020202020204" pitchFamily="34" charset="0"/>
              <a:buNone/>
            </a:pPr>
            <a:r>
              <a:rPr lang="en-US" sz="1200"/>
              <a:t>While identifiers are consistent, some childcare cost metrics have missing values needing selective filtering and cleaning.</a:t>
            </a:r>
          </a:p>
          <a:p>
            <a:pPr marL="0" indent="0">
              <a:lnSpc>
                <a:spcPct val="120000"/>
              </a:lnSpc>
              <a:spcBef>
                <a:spcPts val="2500"/>
              </a:spcBef>
              <a:buFont typeface="Arial" panose="020B0604020202020204" pitchFamily="34" charset="0"/>
              <a:buNone/>
            </a:pPr>
            <a:r>
              <a:rPr lang="en-US" sz="1200" b="1"/>
              <a:t>Cost Variation Insights</a:t>
            </a:r>
          </a:p>
          <a:p>
            <a:pPr marL="0" lvl="1" indent="0">
              <a:lnSpc>
                <a:spcPct val="120000"/>
              </a:lnSpc>
              <a:buFont typeface="Arial" panose="020B0604020202020204" pitchFamily="34" charset="0"/>
              <a:buNone/>
            </a:pPr>
            <a:r>
              <a:rPr lang="en-US" sz="1200"/>
              <a:t>Descriptive statistics show wide variation in childcare costs, with preschool and infant care prices ranging greatly across regions.</a:t>
            </a:r>
          </a:p>
        </p:txBody>
      </p:sp>
    </p:spTree>
    <p:extLst>
      <p:ext uri="{BB962C8B-B14F-4D97-AF65-F5344CB8AC3E}">
        <p14:creationId xmlns:p14="http://schemas.microsoft.com/office/powerpoint/2010/main" val="1282400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01211-BC80-7ADB-5397-A825843BAD3A}"/>
              </a:ext>
            </a:extLst>
          </p:cNvPr>
          <p:cNvSpPr>
            <a:spLocks noGrp="1"/>
          </p:cNvSpPr>
          <p:nvPr>
            <p:ph type="title"/>
          </p:nvPr>
        </p:nvSpPr>
        <p:spPr>
          <a:xfrm>
            <a:off x="2388871" y="1707549"/>
            <a:ext cx="7258050" cy="2826351"/>
          </a:xfrm>
        </p:spPr>
        <p:txBody>
          <a:bodyPr anchor="ctr">
            <a:normAutofit/>
          </a:bodyPr>
          <a:lstStyle/>
          <a:p>
            <a:r>
              <a:rPr lang="en-US"/>
              <a:t>Childcare Price Visualizations</a:t>
            </a:r>
          </a:p>
        </p:txBody>
      </p:sp>
    </p:spTree>
    <p:extLst>
      <p:ext uri="{BB962C8B-B14F-4D97-AF65-F5344CB8AC3E}">
        <p14:creationId xmlns:p14="http://schemas.microsoft.com/office/powerpoint/2010/main" val="2659034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ED0F0-CD93-DC05-8D5F-456E1D285055}"/>
              </a:ext>
            </a:extLst>
          </p:cNvPr>
          <p:cNvSpPr>
            <a:spLocks noGrp="1"/>
          </p:cNvSpPr>
          <p:nvPr>
            <p:ph type="title"/>
          </p:nvPr>
        </p:nvSpPr>
        <p:spPr>
          <a:xfrm>
            <a:off x="2969440" y="1569673"/>
            <a:ext cx="6253121" cy="1150747"/>
          </a:xfrm>
        </p:spPr>
        <p:txBody>
          <a:bodyPr anchor="b">
            <a:normAutofit/>
          </a:bodyPr>
          <a:lstStyle/>
          <a:p>
            <a:r>
              <a:rPr lang="en-US"/>
              <a:t>Price Distribution</a:t>
            </a:r>
          </a:p>
        </p:txBody>
      </p:sp>
      <p:graphicFrame>
        <p:nvGraphicFramePr>
          <p:cNvPr id="5" name="Content Placeholder 4">
            <a:extLst>
              <a:ext uri="{FF2B5EF4-FFF2-40B4-BE49-F238E27FC236}">
                <a16:creationId xmlns:a16="http://schemas.microsoft.com/office/drawing/2014/main" id="{FD9A3435-D857-4B7E-AA15-8806ED45DB07}"/>
              </a:ext>
            </a:extLst>
          </p:cNvPr>
          <p:cNvGraphicFramePr>
            <a:graphicFrameLocks noGrp="1"/>
          </p:cNvGraphicFramePr>
          <p:nvPr>
            <p:ph idx="1"/>
          </p:nvPr>
        </p:nvGraphicFramePr>
        <p:xfrm>
          <a:off x="3446724" y="2968706"/>
          <a:ext cx="5304446" cy="1719074"/>
        </p:xfrm>
        <a:graphic>
          <a:graphicData uri="http://schemas.openxmlformats.org/drawingml/2006/table">
            <a:tbl>
              <a:tblPr firstRow="1" bandRow="1">
                <a:noFill/>
                <a:tableStyleId>{5C22544A-7EE6-4342-B048-85BDC9FD1C3A}</a:tableStyleId>
              </a:tblPr>
              <a:tblGrid>
                <a:gridCol w="3000323">
                  <a:extLst>
                    <a:ext uri="{9D8B030D-6E8A-4147-A177-3AD203B41FA5}">
                      <a16:colId xmlns:a16="http://schemas.microsoft.com/office/drawing/2014/main" val="2296931314"/>
                    </a:ext>
                  </a:extLst>
                </a:gridCol>
                <a:gridCol w="2304123">
                  <a:extLst>
                    <a:ext uri="{9D8B030D-6E8A-4147-A177-3AD203B41FA5}">
                      <a16:colId xmlns:a16="http://schemas.microsoft.com/office/drawing/2014/main" val="3166030531"/>
                    </a:ext>
                  </a:extLst>
                </a:gridCol>
              </a:tblGrid>
              <a:tr h="458084">
                <a:tc>
                  <a:txBody>
                    <a:bodyPr/>
                    <a:lstStyle/>
                    <a:p>
                      <a:pPr>
                        <a:buNone/>
                      </a:pPr>
                      <a:r>
                        <a:rPr lang="en-US" sz="1300" b="1" cap="all" spc="150">
                          <a:solidFill>
                            <a:schemeClr val="tx1"/>
                          </a:solidFill>
                        </a:rPr>
                        <a:t>Statistic</a:t>
                      </a:r>
                    </a:p>
                  </a:txBody>
                  <a:tcPr marL="113262" marR="113262" marT="113262" marB="113262"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300" b="1" cap="all" spc="150">
                          <a:solidFill>
                            <a:schemeClr val="tx1"/>
                          </a:solidFill>
                        </a:rPr>
                        <a:t>Value</a:t>
                      </a:r>
                    </a:p>
                  </a:txBody>
                  <a:tcPr marL="113262" marR="113262" marT="113262" marB="113262"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66776182"/>
                  </a:ext>
                </a:extLst>
              </a:tr>
              <a:tr h="420330">
                <a:tc>
                  <a:txBody>
                    <a:bodyPr/>
                    <a:lstStyle/>
                    <a:p>
                      <a:pPr>
                        <a:buNone/>
                      </a:pPr>
                      <a:r>
                        <a:rPr lang="en-US" sz="1100" b="1" cap="none" spc="0">
                          <a:solidFill>
                            <a:schemeClr val="tx1"/>
                          </a:solidFill>
                        </a:rPr>
                        <a:t>Cluster Range</a:t>
                      </a:r>
                    </a:p>
                  </a:txBody>
                  <a:tcPr marL="113262" marR="113262" marT="113262" marB="113262"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$95 - $110</a:t>
                      </a:r>
                    </a:p>
                  </a:txBody>
                  <a:tcPr marL="113262" marR="113262" marT="113262" marB="113262"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567450805"/>
                  </a:ext>
                </a:extLst>
              </a:tr>
              <a:tr h="420330">
                <a:tc>
                  <a:txBody>
                    <a:bodyPr/>
                    <a:lstStyle/>
                    <a:p>
                      <a:pPr>
                        <a:buNone/>
                      </a:pPr>
                      <a:r>
                        <a:rPr lang="en-US" sz="1100" b="1" cap="none" spc="0">
                          <a:solidFill>
                            <a:schemeClr val="tx1"/>
                          </a:solidFill>
                        </a:rPr>
                        <a:t>Majority Range</a:t>
                      </a:r>
                    </a:p>
                  </a:txBody>
                  <a:tcPr marL="113262" marR="113262" marT="113262" marB="1132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100" cap="none" spc="0">
                          <a:solidFill>
                            <a:schemeClr val="tx1"/>
                          </a:solidFill>
                        </a:rPr>
                        <a:t>$70 - $150</a:t>
                      </a:r>
                    </a:p>
                  </a:txBody>
                  <a:tcPr marL="113262" marR="113262" marT="113262" marB="11326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16860113"/>
                  </a:ext>
                </a:extLst>
              </a:tr>
              <a:tr h="420330">
                <a:tc>
                  <a:txBody>
                    <a:bodyPr/>
                    <a:lstStyle/>
                    <a:p>
                      <a:pPr>
                        <a:buNone/>
                      </a:pPr>
                      <a:r>
                        <a:rPr lang="en-US" sz="1100" b="1" cap="none" spc="0">
                          <a:solidFill>
                            <a:schemeClr val="tx1"/>
                          </a:solidFill>
                        </a:rPr>
                        <a:t>Tail</a:t>
                      </a:r>
                    </a:p>
                  </a:txBody>
                  <a:tcPr marL="113262" marR="113262" marT="113262" marB="113262"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100" b="0" cap="none" spc="0">
                          <a:solidFill>
                            <a:schemeClr val="tx1"/>
                          </a:solidFill>
                        </a:rPr>
                        <a:t>&gt; $250</a:t>
                      </a:r>
                    </a:p>
                  </a:txBody>
                  <a:tcPr marL="113262" marR="113262" marT="113262" marB="113262"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296370655"/>
                  </a:ext>
                </a:extLst>
              </a:tr>
            </a:tbl>
          </a:graphicData>
        </a:graphic>
      </p:graphicFrame>
    </p:spTree>
    <p:extLst>
      <p:ext uri="{BB962C8B-B14F-4D97-AF65-F5344CB8AC3E}">
        <p14:creationId xmlns:p14="http://schemas.microsoft.com/office/powerpoint/2010/main" val="71072254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E84E-84C8-E4BA-47BC-E060660C3026}"/>
              </a:ext>
            </a:extLst>
          </p:cNvPr>
          <p:cNvSpPr>
            <a:spLocks noGrp="1"/>
          </p:cNvSpPr>
          <p:nvPr>
            <p:ph type="title"/>
          </p:nvPr>
        </p:nvSpPr>
        <p:spPr>
          <a:xfrm>
            <a:off x="7168548" y="448056"/>
            <a:ext cx="4560733" cy="1554480"/>
          </a:xfrm>
        </p:spPr>
        <p:txBody>
          <a:bodyPr anchor="b">
            <a:normAutofit/>
          </a:bodyPr>
          <a:lstStyle/>
          <a:p>
            <a:r>
              <a:rPr lang="en-US"/>
              <a:t>Regional Variation</a:t>
            </a:r>
          </a:p>
        </p:txBody>
      </p:sp>
      <p:pic>
        <p:nvPicPr>
          <p:cNvPr id="5" name="Content Placeholder 4" descr="US map vintage concept image. Digitally created image. ">
            <a:extLst>
              <a:ext uri="{FF2B5EF4-FFF2-40B4-BE49-F238E27FC236}">
                <a16:creationId xmlns:a16="http://schemas.microsoft.com/office/drawing/2014/main" id="{2782FB78-05D4-43AD-BA30-856AD876DEA1}"/>
              </a:ext>
            </a:extLst>
          </p:cNvPr>
          <p:cNvPicPr>
            <a:picLocks noGrp="1" noChangeAspect="1"/>
          </p:cNvPicPr>
          <p:nvPr>
            <p:ph type="pic" idx="1"/>
          </p:nvPr>
        </p:nvPicPr>
        <p:blipFill>
          <a:blip r:embed="rId3"/>
          <a:srcRect l="15669" r="20917"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D5B0F256-6DF0-279F-4E88-445BE4DD4D6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200" b="1"/>
              <a:t>High Childcare Cost Regions</a:t>
            </a:r>
          </a:p>
          <a:p>
            <a:pPr marL="0" lvl="1" indent="0">
              <a:lnSpc>
                <a:spcPct val="120000"/>
              </a:lnSpc>
              <a:buFont typeface="Arial" panose="020B0604020202020204" pitchFamily="34" charset="0"/>
              <a:buNone/>
            </a:pPr>
            <a:r>
              <a:rPr lang="en-US" sz="1200"/>
              <a:t>District of Columbia, Rhode Island, Connecticut, and Massachusetts show the highest childcare costs in the US.</a:t>
            </a:r>
          </a:p>
          <a:p>
            <a:pPr marL="0" indent="0">
              <a:lnSpc>
                <a:spcPct val="120000"/>
              </a:lnSpc>
              <a:spcBef>
                <a:spcPts val="2500"/>
              </a:spcBef>
              <a:buFont typeface="Arial" panose="020B0604020202020204" pitchFamily="34" charset="0"/>
              <a:buNone/>
            </a:pPr>
            <a:r>
              <a:rPr lang="en-US" sz="1200" b="1"/>
              <a:t>Cost Range and Factors</a:t>
            </a:r>
          </a:p>
          <a:p>
            <a:pPr marL="0" lvl="1" indent="0">
              <a:lnSpc>
                <a:spcPct val="120000"/>
              </a:lnSpc>
              <a:buFont typeface="Arial" panose="020B0604020202020204" pitchFamily="34" charset="0"/>
              <a:buNone/>
            </a:pPr>
            <a:r>
              <a:rPr lang="en-US" sz="1200"/>
              <a:t>Annual childcare costs range from mid-$170K to low-$230K, influenced by urbanization, coastal access, and supply constraints.</a:t>
            </a:r>
          </a:p>
          <a:p>
            <a:pPr marL="0" indent="0">
              <a:lnSpc>
                <a:spcPct val="120000"/>
              </a:lnSpc>
              <a:spcBef>
                <a:spcPts val="2500"/>
              </a:spcBef>
              <a:buFont typeface="Arial" panose="020B0604020202020204" pitchFamily="34" charset="0"/>
              <a:buNone/>
            </a:pPr>
            <a:r>
              <a:rPr lang="en-US" sz="1200" b="1"/>
              <a:t>Affordability Challenges</a:t>
            </a:r>
          </a:p>
          <a:p>
            <a:pPr marL="0" lvl="1" indent="0">
              <a:lnSpc>
                <a:spcPct val="120000"/>
              </a:lnSpc>
              <a:buFont typeface="Arial" panose="020B0604020202020204" pitchFamily="34" charset="0"/>
              <a:buNone/>
            </a:pPr>
            <a:r>
              <a:rPr lang="en-US" sz="1200"/>
              <a:t>Affordability issues are significant in urban hubs and remote regions, highlighting the need for targeted policies and adjustments.</a:t>
            </a:r>
          </a:p>
        </p:txBody>
      </p:sp>
    </p:spTree>
    <p:extLst>
      <p:ext uri="{BB962C8B-B14F-4D97-AF65-F5344CB8AC3E}">
        <p14:creationId xmlns:p14="http://schemas.microsoft.com/office/powerpoint/2010/main" val="3634221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0106-A566-E344-C8C2-75F08E9F4B93}"/>
              </a:ext>
            </a:extLst>
          </p:cNvPr>
          <p:cNvSpPr>
            <a:spLocks noGrp="1"/>
          </p:cNvSpPr>
          <p:nvPr>
            <p:ph type="title"/>
          </p:nvPr>
        </p:nvSpPr>
        <p:spPr>
          <a:xfrm>
            <a:off x="7168548" y="448056"/>
            <a:ext cx="4560733" cy="1554480"/>
          </a:xfrm>
        </p:spPr>
        <p:txBody>
          <a:bodyPr anchor="b">
            <a:normAutofit/>
          </a:bodyPr>
          <a:lstStyle/>
          <a:p>
            <a:r>
              <a:rPr lang="en-US"/>
              <a:t>Median Prices by Age and Provider Type</a:t>
            </a:r>
          </a:p>
        </p:txBody>
      </p:sp>
      <p:pic>
        <p:nvPicPr>
          <p:cNvPr id="5" name="Content Placeholder 4" descr="Shot of a businessman looking thoughtfully at a graph against a white background">
            <a:extLst>
              <a:ext uri="{FF2B5EF4-FFF2-40B4-BE49-F238E27FC236}">
                <a16:creationId xmlns:a16="http://schemas.microsoft.com/office/drawing/2014/main" id="{E2A1B389-CF2D-4F7A-BE0C-3853A54AEE4B}"/>
              </a:ext>
            </a:extLst>
          </p:cNvPr>
          <p:cNvPicPr>
            <a:picLocks noGrp="1" noChangeAspect="1"/>
          </p:cNvPicPr>
          <p:nvPr>
            <p:ph type="pic" idx="1"/>
          </p:nvPr>
        </p:nvPicPr>
        <p:blipFill>
          <a:blip r:embed="rId3"/>
          <a:srcRect r="36587"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35A261AA-8FF3-AC2F-117E-443951BC54B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300" b="1"/>
              <a:t>Price Variation by Child Age</a:t>
            </a:r>
          </a:p>
          <a:p>
            <a:pPr marL="0" lvl="1" indent="0">
              <a:lnSpc>
                <a:spcPct val="120000"/>
              </a:lnSpc>
              <a:buFont typeface="Arial" panose="020B0604020202020204" pitchFamily="34" charset="0"/>
              <a:buNone/>
            </a:pPr>
            <a:r>
              <a:rPr lang="en-US" sz="1300"/>
              <a:t>Median childcare prices are highest for infants and decrease as children grow older across all provider types.</a:t>
            </a:r>
          </a:p>
          <a:p>
            <a:pPr marL="0" indent="0">
              <a:lnSpc>
                <a:spcPct val="120000"/>
              </a:lnSpc>
              <a:spcBef>
                <a:spcPts val="2500"/>
              </a:spcBef>
              <a:buFont typeface="Arial" panose="020B0604020202020204" pitchFamily="34" charset="0"/>
              <a:buNone/>
            </a:pPr>
            <a:r>
              <a:rPr lang="en-US" sz="1300" b="1"/>
              <a:t>Provider Type Cost Differences</a:t>
            </a:r>
          </a:p>
          <a:p>
            <a:pPr marL="0" lvl="1" indent="0">
              <a:lnSpc>
                <a:spcPct val="120000"/>
              </a:lnSpc>
              <a:buFont typeface="Arial" panose="020B0604020202020204" pitchFamily="34" charset="0"/>
              <a:buNone/>
            </a:pPr>
            <a:r>
              <a:rPr lang="en-US" sz="1300"/>
              <a:t>Center-based childcare consistently costs more than family childcare regardless of child age group.</a:t>
            </a:r>
          </a:p>
          <a:p>
            <a:pPr marL="0" indent="0">
              <a:lnSpc>
                <a:spcPct val="120000"/>
              </a:lnSpc>
              <a:spcBef>
                <a:spcPts val="2500"/>
              </a:spcBef>
              <a:buFont typeface="Arial" panose="020B0604020202020204" pitchFamily="34" charset="0"/>
              <a:buNone/>
            </a:pPr>
            <a:r>
              <a:rPr lang="en-US" sz="1300" b="1"/>
              <a:t>Financial Impact on Families</a:t>
            </a:r>
          </a:p>
          <a:p>
            <a:pPr marL="0" lvl="1" indent="0">
              <a:lnSpc>
                <a:spcPct val="120000"/>
              </a:lnSpc>
              <a:buFont typeface="Arial" panose="020B0604020202020204" pitchFamily="34" charset="0"/>
              <a:buNone/>
            </a:pPr>
            <a:r>
              <a:rPr lang="en-US" sz="1300"/>
              <a:t>Higher infant care costs place significant financial strain on families, underscoring the need for targeted policy support.</a:t>
            </a:r>
          </a:p>
        </p:txBody>
      </p:sp>
    </p:spTree>
    <p:extLst>
      <p:ext uri="{BB962C8B-B14F-4D97-AF65-F5344CB8AC3E}">
        <p14:creationId xmlns:p14="http://schemas.microsoft.com/office/powerpoint/2010/main" val="34396110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47BF-7BC3-E2FF-9FBF-CE9720405DAB}"/>
              </a:ext>
            </a:extLst>
          </p:cNvPr>
          <p:cNvSpPr>
            <a:spLocks noGrp="1"/>
          </p:cNvSpPr>
          <p:nvPr>
            <p:ph type="title"/>
          </p:nvPr>
        </p:nvSpPr>
        <p:spPr>
          <a:xfrm>
            <a:off x="5124091" y="354723"/>
            <a:ext cx="6541852" cy="1166961"/>
          </a:xfrm>
        </p:spPr>
        <p:txBody>
          <a:bodyPr anchor="b">
            <a:normAutofit/>
          </a:bodyPr>
          <a:lstStyle/>
          <a:p>
            <a:r>
              <a:rPr lang="en-US"/>
              <a:t>Price Trends Over Time</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27258405-4713-4BEA-8A0F-0AD5F6F68E5D}"/>
              </a:ext>
            </a:extLst>
          </p:cNvPr>
          <p:cNvPicPr>
            <a:picLocks noGrp="1" noChangeAspect="1"/>
          </p:cNvPicPr>
          <p:nvPr>
            <p:ph type="pic" sz="quarter" idx="15"/>
          </p:nvPr>
        </p:nvPicPr>
        <p:blipFill>
          <a:blip r:embed="rId3"/>
          <a:srcRect l="41719" r="3999"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A154FB57-1CB2-440F-88ED-AAA7DB741A6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Gradual Price Increase</a:t>
            </a:r>
          </a:p>
          <a:p>
            <a:pPr marL="0" lvl="1" indent="0">
              <a:lnSpc>
                <a:spcPct val="120000"/>
              </a:lnSpc>
              <a:buFont typeface="Arial" panose="020B0604020202020204" pitchFamily="34" charset="0"/>
              <a:buNone/>
            </a:pPr>
            <a:r>
              <a:t>Median childcare prices gradually increased over ten years, reflecting rising costs nationwide.</a:t>
            </a:r>
            <a:endParaRPr lang="en-US"/>
          </a:p>
          <a:p>
            <a:pPr marL="0" indent="0">
              <a:lnSpc>
                <a:spcPct val="120000"/>
              </a:lnSpc>
              <a:spcBef>
                <a:spcPts val="2500"/>
              </a:spcBef>
              <a:buFont typeface="Arial" panose="020B0604020202020204" pitchFamily="34" charset="0"/>
              <a:buNone/>
            </a:pPr>
            <a:r>
              <a:rPr lang="en-US" b="1"/>
              <a:t>Price Fluctuations</a:t>
            </a:r>
          </a:p>
          <a:p>
            <a:pPr marL="0" lvl="1" indent="0">
              <a:lnSpc>
                <a:spcPct val="120000"/>
              </a:lnSpc>
              <a:buFont typeface="Arial" panose="020B0604020202020204" pitchFamily="34" charset="0"/>
              <a:buNone/>
            </a:pPr>
            <a:r>
              <a:t>Occasional spikes and drops in prices may relate to policy shifts or economic changes affecting providers.</a:t>
            </a:r>
            <a:endParaRPr lang="en-US"/>
          </a:p>
          <a:p>
            <a:pPr marL="0" indent="0">
              <a:lnSpc>
                <a:spcPct val="120000"/>
              </a:lnSpc>
              <a:spcBef>
                <a:spcPts val="2500"/>
              </a:spcBef>
              <a:buFont typeface="Arial" panose="020B0604020202020204" pitchFamily="34" charset="0"/>
              <a:buNone/>
            </a:pPr>
            <a:r>
              <a:rPr lang="en-US" b="1"/>
              <a:t>Periods of Stability</a:t>
            </a:r>
          </a:p>
          <a:p>
            <a:pPr marL="0" lvl="1" indent="0">
              <a:lnSpc>
                <a:spcPct val="120000"/>
              </a:lnSpc>
              <a:buFont typeface="Arial" panose="020B0604020202020204" pitchFamily="34" charset="0"/>
              <a:buNone/>
            </a:pPr>
            <a:r>
              <a:t>Stable periods indicate temporary market balance or lower inflation impacting childcare costs.</a:t>
            </a:r>
            <a:endParaRPr lang="en-US"/>
          </a:p>
          <a:p>
            <a:pPr marL="0" indent="0">
              <a:lnSpc>
                <a:spcPct val="120000"/>
              </a:lnSpc>
              <a:spcBef>
                <a:spcPts val="2500"/>
              </a:spcBef>
              <a:buFont typeface="Arial" panose="020B0604020202020204" pitchFamily="34" charset="0"/>
              <a:buNone/>
            </a:pPr>
            <a:r>
              <a:rPr lang="en-US" b="1"/>
              <a:t>Need for Monitoring</a:t>
            </a:r>
          </a:p>
          <a:p>
            <a:pPr marL="0" lvl="1" indent="0">
              <a:lnSpc>
                <a:spcPct val="120000"/>
              </a:lnSpc>
              <a:buFont typeface="Arial" panose="020B0604020202020204" pitchFamily="34" charset="0"/>
              <a:buNone/>
            </a:pPr>
            <a:r>
              <a:t>Continuous monitoring is crucial for adaptive strategies to keep childcare affordable.</a:t>
            </a:r>
            <a:endParaRPr lang="en-US"/>
          </a:p>
        </p:txBody>
      </p:sp>
    </p:spTree>
    <p:extLst>
      <p:ext uri="{BB962C8B-B14F-4D97-AF65-F5344CB8AC3E}">
        <p14:creationId xmlns:p14="http://schemas.microsoft.com/office/powerpoint/2010/main" val="4274192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12B8-0675-21D3-473D-BBD80F6F36C0}"/>
              </a:ext>
            </a:extLst>
          </p:cNvPr>
          <p:cNvSpPr>
            <a:spLocks noGrp="1"/>
          </p:cNvSpPr>
          <p:nvPr>
            <p:ph type="title"/>
          </p:nvPr>
        </p:nvSpPr>
        <p:spPr>
          <a:xfrm>
            <a:off x="2388871" y="1707549"/>
            <a:ext cx="7258050" cy="2826351"/>
          </a:xfrm>
        </p:spPr>
        <p:txBody>
          <a:bodyPr anchor="ctr">
            <a:normAutofit/>
          </a:bodyPr>
          <a:lstStyle/>
          <a:p>
            <a:r>
              <a:rPr lang="en-US"/>
              <a:t>Geospatial Analysis</a:t>
            </a:r>
          </a:p>
        </p:txBody>
      </p:sp>
    </p:spTree>
    <p:extLst>
      <p:ext uri="{BB962C8B-B14F-4D97-AF65-F5344CB8AC3E}">
        <p14:creationId xmlns:p14="http://schemas.microsoft.com/office/powerpoint/2010/main" val="19979040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89BB3-7670-A80A-5661-58A4BADAD6B8}"/>
              </a:ext>
            </a:extLst>
          </p:cNvPr>
          <p:cNvSpPr>
            <a:spLocks noGrp="1"/>
          </p:cNvSpPr>
          <p:nvPr>
            <p:ph type="title"/>
          </p:nvPr>
        </p:nvSpPr>
        <p:spPr>
          <a:xfrm>
            <a:off x="7168548" y="448056"/>
            <a:ext cx="4560733" cy="1554480"/>
          </a:xfrm>
        </p:spPr>
        <p:txBody>
          <a:bodyPr anchor="b">
            <a:normAutofit/>
          </a:bodyPr>
          <a:lstStyle/>
          <a:p>
            <a:r>
              <a:rPr lang="en-US"/>
              <a:t>Heatmap of Median Prices by State and Year</a:t>
            </a:r>
          </a:p>
        </p:txBody>
      </p:sp>
      <p:pic>
        <p:nvPicPr>
          <p:cNvPr id="5" name="Content Placeholder 4" descr="Glowing digital map of USA with colorful dots">
            <a:extLst>
              <a:ext uri="{FF2B5EF4-FFF2-40B4-BE49-F238E27FC236}">
                <a16:creationId xmlns:a16="http://schemas.microsoft.com/office/drawing/2014/main" id="{620E7F96-A58D-438E-AB4A-02B5BB9F21B5}"/>
              </a:ext>
            </a:extLst>
          </p:cNvPr>
          <p:cNvPicPr>
            <a:picLocks noGrp="1" noChangeAspect="1"/>
          </p:cNvPicPr>
          <p:nvPr>
            <p:ph type="pic" idx="1"/>
          </p:nvPr>
        </p:nvPicPr>
        <p:blipFill>
          <a:blip r:embed="rId3"/>
          <a:srcRect l="20198" r="2280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F201821E-BEA1-6EE0-A32C-7B13FE8CA5F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b="1"/>
              <a:t>Regional Cost Variations</a:t>
            </a:r>
          </a:p>
          <a:p>
            <a:pPr marL="0" lvl="1" indent="0">
              <a:lnSpc>
                <a:spcPct val="120000"/>
              </a:lnSpc>
              <a:buFont typeface="Arial" panose="020B0604020202020204" pitchFamily="34" charset="0"/>
              <a:buNone/>
            </a:pPr>
            <a:r>
              <a:t>High childcare costs are concentrated in Northeast and coastal states, while rural areas show lower prices.</a:t>
            </a:r>
            <a:endParaRPr lang="en-US"/>
          </a:p>
          <a:p>
            <a:pPr marL="0" indent="0">
              <a:lnSpc>
                <a:spcPct val="120000"/>
              </a:lnSpc>
              <a:spcBef>
                <a:spcPts val="2500"/>
              </a:spcBef>
              <a:buFont typeface="Arial" panose="020B0604020202020204" pitchFamily="34" charset="0"/>
              <a:buNone/>
            </a:pPr>
            <a:r>
              <a:rPr lang="en-US" b="1"/>
              <a:t>Temporal Affordability Trends</a:t>
            </a:r>
          </a:p>
          <a:p>
            <a:pPr marL="0" lvl="1" indent="0">
              <a:lnSpc>
                <a:spcPct val="120000"/>
              </a:lnSpc>
              <a:buFont typeface="Arial" panose="020B0604020202020204" pitchFamily="34" charset="0"/>
              <a:buNone/>
            </a:pPr>
            <a:r>
              <a:t>Changing color intensities over years reveal evolving affordability patterns across states.</a:t>
            </a:r>
            <a:endParaRPr lang="en-US"/>
          </a:p>
          <a:p>
            <a:pPr marL="0" indent="0">
              <a:lnSpc>
                <a:spcPct val="120000"/>
              </a:lnSpc>
              <a:spcBef>
                <a:spcPts val="2500"/>
              </a:spcBef>
              <a:buFont typeface="Arial" panose="020B0604020202020204" pitchFamily="34" charset="0"/>
              <a:buNone/>
            </a:pPr>
            <a:r>
              <a:rPr lang="en-US" b="1"/>
              <a:t>Policy Impact and Anomalies</a:t>
            </a:r>
          </a:p>
          <a:p>
            <a:pPr marL="0" lvl="1" indent="0">
              <a:lnSpc>
                <a:spcPct val="120000"/>
              </a:lnSpc>
              <a:buFont typeface="Arial" panose="020B0604020202020204" pitchFamily="34" charset="0"/>
              <a:buNone/>
            </a:pPr>
            <a:r>
              <a:t>Outliers in the heatmap may indicate effects of policy changes or data irregularities in specific states.</a:t>
            </a:r>
            <a:endParaRPr lang="en-US"/>
          </a:p>
        </p:txBody>
      </p:sp>
    </p:spTree>
    <p:extLst>
      <p:ext uri="{BB962C8B-B14F-4D97-AF65-F5344CB8AC3E}">
        <p14:creationId xmlns:p14="http://schemas.microsoft.com/office/powerpoint/2010/main" val="15324850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1142-FDE9-E896-33E2-0024BB23921F}"/>
              </a:ext>
            </a:extLst>
          </p:cNvPr>
          <p:cNvSpPr>
            <a:spLocks noGrp="1"/>
          </p:cNvSpPr>
          <p:nvPr>
            <p:ph type="title"/>
          </p:nvPr>
        </p:nvSpPr>
        <p:spPr>
          <a:xfrm>
            <a:off x="5124091" y="354723"/>
            <a:ext cx="6541852" cy="1166961"/>
          </a:xfrm>
        </p:spPr>
        <p:txBody>
          <a:bodyPr anchor="b">
            <a:normAutofit/>
          </a:bodyPr>
          <a:lstStyle/>
          <a:p>
            <a:r>
              <a:rPr lang="en-US"/>
              <a:t>Choropleth Map of U.S. States</a:t>
            </a:r>
          </a:p>
        </p:txBody>
      </p:sp>
      <p:pic>
        <p:nvPicPr>
          <p:cNvPr id="5" name="Content Placeholder 4" descr="Puzzle pieces representing the fifty states of the United States are jumbled and slightly misplaced on a blue background.">
            <a:extLst>
              <a:ext uri="{FF2B5EF4-FFF2-40B4-BE49-F238E27FC236}">
                <a16:creationId xmlns:a16="http://schemas.microsoft.com/office/drawing/2014/main" id="{25E9C17D-6170-4C7F-9226-01AF671996CA}"/>
              </a:ext>
            </a:extLst>
          </p:cNvPr>
          <p:cNvPicPr>
            <a:picLocks noGrp="1" noChangeAspect="1"/>
          </p:cNvPicPr>
          <p:nvPr>
            <p:ph type="pic" sz="quarter" idx="15"/>
          </p:nvPr>
        </p:nvPicPr>
        <p:blipFill>
          <a:blip r:embed="rId3"/>
          <a:srcRect l="30561" r="27184"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AB424B89-B935-7C02-BD50-85FC972905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High Childcare Costs in Northeast</a:t>
            </a:r>
          </a:p>
          <a:p>
            <a:pPr marL="0" lvl="1" indent="0">
              <a:lnSpc>
                <a:spcPct val="120000"/>
              </a:lnSpc>
              <a:buFont typeface="Arial" panose="020B0604020202020204" pitchFamily="34" charset="0"/>
              <a:buNone/>
            </a:pPr>
            <a:r>
              <a:t>Northeastern states like Massachusetts and New York have the highest annual childcare costs, often surpassing $40K.</a:t>
            </a:r>
            <a:endParaRPr lang="en-US"/>
          </a:p>
          <a:p>
            <a:pPr marL="0" indent="0">
              <a:lnSpc>
                <a:spcPct val="120000"/>
              </a:lnSpc>
              <a:spcBef>
                <a:spcPts val="2500"/>
              </a:spcBef>
              <a:buFont typeface="Arial" panose="020B0604020202020204" pitchFamily="34" charset="0"/>
              <a:buNone/>
            </a:pPr>
            <a:r>
              <a:rPr lang="en-US" b="1"/>
              <a:t>Moderate Childcare Costs</a:t>
            </a:r>
          </a:p>
          <a:p>
            <a:pPr marL="0" lvl="1" indent="0">
              <a:lnSpc>
                <a:spcPct val="120000"/>
              </a:lnSpc>
              <a:buFont typeface="Arial" panose="020B0604020202020204" pitchFamily="34" charset="0"/>
              <a:buNone/>
            </a:pPr>
            <a:r>
              <a:t>States such as California and Colorado show moderate childcare costs, positioned between high and low cost regions.</a:t>
            </a:r>
            <a:endParaRPr lang="en-US"/>
          </a:p>
          <a:p>
            <a:pPr marL="0" indent="0">
              <a:lnSpc>
                <a:spcPct val="120000"/>
              </a:lnSpc>
              <a:spcBef>
                <a:spcPts val="2500"/>
              </a:spcBef>
              <a:buFont typeface="Arial" panose="020B0604020202020204" pitchFamily="34" charset="0"/>
              <a:buNone/>
            </a:pPr>
            <a:r>
              <a:rPr lang="en-US" b="1"/>
              <a:t>Affordable Childcare Regions</a:t>
            </a:r>
          </a:p>
          <a:p>
            <a:pPr marL="0" lvl="1" indent="0">
              <a:lnSpc>
                <a:spcPct val="120000"/>
              </a:lnSpc>
              <a:buFont typeface="Arial" panose="020B0604020202020204" pitchFamily="34" charset="0"/>
              <a:buNone/>
            </a:pPr>
            <a:r>
              <a:t>Southern and Midwestern states generally have more affordable childcare, with costs below $25K annually.</a:t>
            </a:r>
            <a:endParaRPr lang="en-US"/>
          </a:p>
          <a:p>
            <a:pPr marL="0" indent="0">
              <a:lnSpc>
                <a:spcPct val="120000"/>
              </a:lnSpc>
              <a:spcBef>
                <a:spcPts val="2500"/>
              </a:spcBef>
              <a:buFont typeface="Arial" panose="020B0604020202020204" pitchFamily="34" charset="0"/>
              <a:buNone/>
            </a:pPr>
            <a:r>
              <a:rPr lang="en-US" b="1"/>
              <a:t>Socioeconomic Influence</a:t>
            </a:r>
          </a:p>
          <a:p>
            <a:pPr marL="0" lvl="1" indent="0">
              <a:lnSpc>
                <a:spcPct val="120000"/>
              </a:lnSpc>
              <a:buFont typeface="Arial" panose="020B0604020202020204" pitchFamily="34" charset="0"/>
              <a:buNone/>
            </a:pPr>
            <a:r>
              <a:t>Childcare cost patterns reflect broader socioeconomic and demographic factors across regions in the U.S.</a:t>
            </a:r>
            <a:endParaRPr lang="en-US"/>
          </a:p>
        </p:txBody>
      </p:sp>
    </p:spTree>
    <p:extLst>
      <p:ext uri="{BB962C8B-B14F-4D97-AF65-F5344CB8AC3E}">
        <p14:creationId xmlns:p14="http://schemas.microsoft.com/office/powerpoint/2010/main" val="1759470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ACB2A-3BE1-2E3E-9101-3574481740FA}"/>
              </a:ext>
            </a:extLst>
          </p:cNvPr>
          <p:cNvSpPr>
            <a:spLocks noGrp="1"/>
          </p:cNvSpPr>
          <p:nvPr>
            <p:ph type="title"/>
          </p:nvPr>
        </p:nvSpPr>
        <p:spPr>
          <a:xfrm>
            <a:off x="2388871" y="1707549"/>
            <a:ext cx="7258050" cy="2826351"/>
          </a:xfrm>
        </p:spPr>
        <p:txBody>
          <a:bodyPr anchor="ctr">
            <a:normAutofit/>
          </a:bodyPr>
          <a:lstStyle/>
          <a:p>
            <a:r>
              <a:rPr lang="en-US"/>
              <a:t>Findings and Conclusion</a:t>
            </a:r>
          </a:p>
        </p:txBody>
      </p:sp>
    </p:spTree>
    <p:extLst>
      <p:ext uri="{BB962C8B-B14F-4D97-AF65-F5344CB8AC3E}">
        <p14:creationId xmlns:p14="http://schemas.microsoft.com/office/powerpoint/2010/main" val="3871426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E4DFC-AEF4-4CB6-B3C7-65B5F75A0D60}"/>
              </a:ext>
            </a:extLst>
          </p:cNvPr>
          <p:cNvSpPr>
            <a:spLocks noGrp="1"/>
          </p:cNvSpPr>
          <p:nvPr>
            <p:ph type="title"/>
          </p:nvPr>
        </p:nvSpPr>
        <p:spPr>
          <a:xfrm>
            <a:off x="5124091" y="354723"/>
            <a:ext cx="6541852" cy="1166961"/>
          </a:xfrm>
        </p:spPr>
        <p:txBody>
          <a:bodyPr anchor="b">
            <a:normAutofit/>
          </a:bodyPr>
          <a:lstStyle/>
          <a:p>
            <a:r>
              <a:rPr lang="en-US"/>
              <a:t>Key Findings</a:t>
            </a:r>
          </a:p>
        </p:txBody>
      </p:sp>
      <p:pic>
        <p:nvPicPr>
          <p:cNvPr id="5" name="Content Placeholder 4" descr="Close up of a playful mother enjoying day with her son">
            <a:extLst>
              <a:ext uri="{FF2B5EF4-FFF2-40B4-BE49-F238E27FC236}">
                <a16:creationId xmlns:a16="http://schemas.microsoft.com/office/drawing/2014/main" id="{2674DFBA-661A-40EF-9833-800460E295AD}"/>
              </a:ext>
            </a:extLst>
          </p:cNvPr>
          <p:cNvPicPr>
            <a:picLocks noGrp="1" noChangeAspect="1"/>
          </p:cNvPicPr>
          <p:nvPr>
            <p:ph type="pic" sz="quarter" idx="15"/>
          </p:nvPr>
        </p:nvPicPr>
        <p:blipFill>
          <a:blip r:embed="rId3"/>
          <a:srcRect r="5166"/>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3556A91A-9208-1323-60AA-C56AE248B56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Regional Cost Variations</a:t>
            </a:r>
          </a:p>
          <a:p>
            <a:pPr marL="0" lvl="1" indent="0">
              <a:lnSpc>
                <a:spcPct val="120000"/>
              </a:lnSpc>
              <a:buFont typeface="Arial" panose="020B0604020202020204" pitchFamily="34" charset="0"/>
              <a:buNone/>
            </a:pPr>
            <a:r>
              <a:t>Childcare costs are highest in the Northeast and coastal regions, showing significant geographic disparities.</a:t>
            </a:r>
            <a:endParaRPr lang="en-US"/>
          </a:p>
          <a:p>
            <a:pPr marL="0" indent="0">
              <a:lnSpc>
                <a:spcPct val="120000"/>
              </a:lnSpc>
              <a:spcBef>
                <a:spcPts val="2500"/>
              </a:spcBef>
              <a:buFont typeface="Arial" panose="020B0604020202020204" pitchFamily="34" charset="0"/>
              <a:buNone/>
            </a:pPr>
            <a:r>
              <a:rPr lang="en-US" b="1"/>
              <a:t>Infant Care Expenses</a:t>
            </a:r>
          </a:p>
          <a:p>
            <a:pPr marL="0" lvl="1" indent="0">
              <a:lnSpc>
                <a:spcPct val="120000"/>
              </a:lnSpc>
              <a:buFont typeface="Arial" panose="020B0604020202020204" pitchFamily="34" charset="0"/>
              <a:buNone/>
            </a:pPr>
            <a:r>
              <a:t>Infant care remains the most expensive age group for childcare services compared to others.</a:t>
            </a:r>
            <a:endParaRPr lang="en-US"/>
          </a:p>
          <a:p>
            <a:pPr marL="0" indent="0">
              <a:lnSpc>
                <a:spcPct val="120000"/>
              </a:lnSpc>
              <a:spcBef>
                <a:spcPts val="2500"/>
              </a:spcBef>
              <a:buFont typeface="Arial" panose="020B0604020202020204" pitchFamily="34" charset="0"/>
              <a:buNone/>
            </a:pPr>
            <a:r>
              <a:rPr lang="en-US" b="1"/>
              <a:t>Provider Type Pricing</a:t>
            </a:r>
          </a:p>
          <a:p>
            <a:pPr marL="0" lvl="1" indent="0">
              <a:lnSpc>
                <a:spcPct val="120000"/>
              </a:lnSpc>
              <a:buFont typeface="Arial" panose="020B0604020202020204" pitchFamily="34" charset="0"/>
              <a:buNone/>
            </a:pPr>
            <a:r>
              <a:t>Center-based childcare providers charge higher fees than family childcare homes across regions.</a:t>
            </a:r>
            <a:endParaRPr lang="en-US"/>
          </a:p>
          <a:p>
            <a:pPr marL="0" indent="0">
              <a:lnSpc>
                <a:spcPct val="120000"/>
              </a:lnSpc>
              <a:spcBef>
                <a:spcPts val="2500"/>
              </a:spcBef>
              <a:buFont typeface="Arial" panose="020B0604020202020204" pitchFamily="34" charset="0"/>
              <a:buNone/>
            </a:pPr>
            <a:r>
              <a:rPr lang="en-US" b="1"/>
              <a:t>Price Trends Over Time</a:t>
            </a:r>
          </a:p>
          <a:p>
            <a:pPr marL="0" lvl="1" indent="0">
              <a:lnSpc>
                <a:spcPct val="120000"/>
              </a:lnSpc>
              <a:buFont typeface="Arial" panose="020B0604020202020204" pitchFamily="34" charset="0"/>
              <a:buNone/>
            </a:pPr>
            <a:r>
              <a:t>Between 2008 and 2018, childcare prices steadily increased due to economic pressures and demand growth.</a:t>
            </a:r>
            <a:endParaRPr lang="en-US"/>
          </a:p>
        </p:txBody>
      </p:sp>
    </p:spTree>
    <p:extLst>
      <p:ext uri="{BB962C8B-B14F-4D97-AF65-F5344CB8AC3E}">
        <p14:creationId xmlns:p14="http://schemas.microsoft.com/office/powerpoint/2010/main" val="1047207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42E2-21FD-0483-D14D-00469565942D}"/>
              </a:ext>
            </a:extLst>
          </p:cNvPr>
          <p:cNvSpPr>
            <a:spLocks noGrp="1"/>
          </p:cNvSpPr>
          <p:nvPr>
            <p:ph type="title"/>
          </p:nvPr>
        </p:nvSpPr>
        <p:spPr>
          <a:xfrm>
            <a:off x="5868610" y="448056"/>
            <a:ext cx="5515315" cy="1554480"/>
          </a:xfrm>
        </p:spPr>
        <p:txBody>
          <a:bodyPr anchor="b">
            <a:normAutofit/>
          </a:bodyPr>
          <a:lstStyle/>
          <a:p>
            <a:r>
              <a:rPr lang="en-US"/>
              <a:t>Conclusion and Implications</a:t>
            </a:r>
          </a:p>
        </p:txBody>
      </p:sp>
      <p:pic>
        <p:nvPicPr>
          <p:cNvPr id="5" name="Content Placeholder 4" descr="Real estate market">
            <a:extLst>
              <a:ext uri="{FF2B5EF4-FFF2-40B4-BE49-F238E27FC236}">
                <a16:creationId xmlns:a16="http://schemas.microsoft.com/office/drawing/2014/main" id="{CFF60560-C75C-4893-9316-52926D4C3593}"/>
              </a:ext>
            </a:extLst>
          </p:cNvPr>
          <p:cNvPicPr>
            <a:picLocks noGrp="1" noChangeAspect="1"/>
          </p:cNvPicPr>
          <p:nvPr>
            <p:ph type="pic" idx="1"/>
          </p:nvPr>
        </p:nvPicPr>
        <p:blipFill>
          <a:blip r:embed="rId3"/>
          <a:srcRect l="13809" r="31198" b="-1"/>
          <a:stretch>
            <a:fillRect/>
          </a:stretch>
        </p:blipFill>
        <p:spPr>
          <a:xfrm>
            <a:off x="20" y="1"/>
            <a:ext cx="5166340" cy="6857999"/>
          </a:xfrm>
          <a:prstGeom prst="rect">
            <a:avLst/>
          </a:prstGeom>
          <a:noFill/>
        </p:spPr>
      </p:pic>
      <p:sp>
        <p:nvSpPr>
          <p:cNvPr id="4" name="Content Placeholder 3">
            <a:extLst>
              <a:ext uri="{FF2B5EF4-FFF2-40B4-BE49-F238E27FC236}">
                <a16:creationId xmlns:a16="http://schemas.microsoft.com/office/drawing/2014/main" id="{B2B25CC9-C1CE-E753-7A3B-6739B3D9FE6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68988" y="2182813"/>
            <a:ext cx="5514975" cy="3973512"/>
          </a:xfrm>
        </p:spPr>
        <p:txBody>
          <a:bodyPr>
            <a:normAutofit/>
          </a:bodyPr>
          <a:lstStyle/>
          <a:p>
            <a:pPr marL="0" indent="0">
              <a:spcBef>
                <a:spcPts val="2500"/>
              </a:spcBef>
              <a:buFont typeface="Arial" panose="020B0604020202020204" pitchFamily="34" charset="0"/>
              <a:buNone/>
            </a:pPr>
            <a:r>
              <a:rPr lang="en-US" b="1"/>
              <a:t>Insights on Cost Structures</a:t>
            </a:r>
          </a:p>
          <a:p>
            <a:pPr marL="0" lvl="1" indent="0">
              <a:buFont typeface="Arial" panose="020B0604020202020204" pitchFamily="34" charset="0"/>
              <a:buNone/>
            </a:pPr>
            <a:r>
              <a:t>The database analysis reveals childcare cost patterns and regional price disparities across different areas.</a:t>
            </a:r>
            <a:endParaRPr lang="en-US"/>
          </a:p>
          <a:p>
            <a:pPr marL="0" indent="0">
              <a:spcBef>
                <a:spcPts val="2500"/>
              </a:spcBef>
              <a:buFont typeface="Arial" panose="020B0604020202020204" pitchFamily="34" charset="0"/>
              <a:buNone/>
            </a:pPr>
            <a:r>
              <a:rPr lang="en-US" b="1"/>
              <a:t>Policy Recommendations</a:t>
            </a:r>
          </a:p>
          <a:p>
            <a:pPr marL="0" lvl="1" indent="0">
              <a:buFont typeface="Arial" panose="020B0604020202020204" pitchFamily="34" charset="0"/>
              <a:buNone/>
            </a:pPr>
            <a:r>
              <a:t>Focus on scholarships, cost-of-living adjustments, and targeted subsidies to reduce financial childcare burdens.</a:t>
            </a:r>
            <a:endParaRPr lang="en-US"/>
          </a:p>
          <a:p>
            <a:pPr marL="0" indent="0">
              <a:spcBef>
                <a:spcPts val="2500"/>
              </a:spcBef>
              <a:buFont typeface="Arial" panose="020B0604020202020204" pitchFamily="34" charset="0"/>
              <a:buNone/>
            </a:pPr>
            <a:r>
              <a:rPr lang="en-US" b="1"/>
              <a:t>Future Research Directions</a:t>
            </a:r>
          </a:p>
          <a:p>
            <a:pPr marL="0" lvl="1" indent="0">
              <a:buFont typeface="Arial" panose="020B0604020202020204" pitchFamily="34" charset="0"/>
              <a:buNone/>
            </a:pPr>
            <a:r>
              <a:t>Incorporate socioeconomic data and predictive models for improved childcare affordability and policy impact.</a:t>
            </a:r>
            <a:endParaRPr lang="en-US"/>
          </a:p>
        </p:txBody>
      </p:sp>
    </p:spTree>
    <p:extLst>
      <p:ext uri="{BB962C8B-B14F-4D97-AF65-F5344CB8AC3E}">
        <p14:creationId xmlns:p14="http://schemas.microsoft.com/office/powerpoint/2010/main" val="1869098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3.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Cut paper</vt:lpstr>
      <vt:lpstr>National Childcare Prices</vt:lpstr>
      <vt:lpstr>Introduction and Data Overview</vt:lpstr>
      <vt:lpstr>Introduction</vt:lpstr>
      <vt:lpstr>Data Exploration</vt:lpstr>
      <vt:lpstr>Childcare Price Visualizations</vt:lpstr>
      <vt:lpstr>Price Distribution</vt:lpstr>
      <vt:lpstr>Regional Variation</vt:lpstr>
      <vt:lpstr>Median Prices by Age and Provider Type</vt:lpstr>
      <vt:lpstr>Price Trends Over Time</vt:lpstr>
      <vt:lpstr>Geospatial Analysis</vt:lpstr>
      <vt:lpstr>Heatmap of Median Prices by State and Year</vt:lpstr>
      <vt:lpstr>Choropleth Map of U.S. States</vt:lpstr>
      <vt:lpstr>Findings and Conclusion</vt:lpstr>
      <vt:lpstr>Key Findings</vt:lpstr>
      <vt:lpstr>Conclusion and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4</cp:revision>
  <dcterms:created xsi:type="dcterms:W3CDTF">2025-08-04T19:22:57Z</dcterms:created>
  <dcterms:modified xsi:type="dcterms:W3CDTF">2025-11-23T13:40:25Z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